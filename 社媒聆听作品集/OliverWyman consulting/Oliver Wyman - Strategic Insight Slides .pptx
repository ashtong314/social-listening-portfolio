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Montserrat" pitchFamily="2" charset="0"/>
      <p:regular r:id="rId7"/>
      <p:bold r:id="rId8"/>
      <p:italic r:id="rId9"/>
      <p:boldItalic r:id="rId10"/>
    </p:embeddedFont>
    <p:embeddedFont>
      <p:font typeface="Montserrat Bold" pitchFamily="2" charset="0"/>
      <p:regular r:id="rId11"/>
      <p:bold r:id="rId12"/>
    </p:embeddedFont>
    <p:embeddedFont>
      <p:font typeface="Montserrat Semi-Bold" pitchFamily="2" charset="0"/>
      <p:regular r:id="rId13"/>
      <p:bold r:id="rId14"/>
    </p:embeddedFont>
    <p:embeddedFont>
      <p:font typeface="Source Sans Pro" panose="020B0503030403020204" pitchFamily="34" charset="0"/>
      <p:regular r:id="rId15"/>
      <p:bold r:id="rId16"/>
      <p:italic r:id="rId17"/>
      <p:boldItalic r:id="rId18"/>
    </p:embeddedFont>
    <p:embeddedFont>
      <p:font typeface="Source Sans Pro Bold" panose="020B0703030403020204" pitchFamily="34" charset="0"/>
      <p:regular r:id="rId19"/>
      <p:bold r:id="rId20"/>
    </p:embeddedFont>
    <p:embeddedFont>
      <p:font typeface="Source Sans Pro Bold Italics" panose="020B0703030403090204" pitchFamily="34" charset="0"/>
      <p:regular r:id="rId21"/>
      <p:bold r:id="rId22"/>
      <p:italic r:id="rId23"/>
      <p:boldItalic r:id="rId24"/>
    </p:embeddedFont>
    <p:embeddedFont>
      <p:font typeface="Source Sans Pro Italics" panose="020B0503030403090204" pitchFamily="34" charset="0"/>
      <p:regular r:id="rId25"/>
      <p: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7D822D-8E5C-DE42-A09E-5DF5651476F2}" v="29" dt="2026-08-19T02:46:33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65" autoAdjust="0"/>
    <p:restoredTop sz="94565" autoAdjust="0"/>
  </p:normalViewPr>
  <p:slideViewPr>
    <p:cSldViewPr>
      <p:cViewPr varScale="1">
        <p:scale>
          <a:sx n="66" d="100"/>
          <a:sy n="66" d="100"/>
        </p:scale>
        <p:origin x="208" y="4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26" Type="http://schemas.openxmlformats.org/officeDocument/2006/relationships/font" Target="fonts/font20.fntdata"/><Relationship Id="rId3" Type="http://schemas.openxmlformats.org/officeDocument/2006/relationships/slide" Target="slides/slide2.xml"/><Relationship Id="rId21" Type="http://schemas.openxmlformats.org/officeDocument/2006/relationships/font" Target="fonts/font15.fnt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24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font" Target="fonts/font17.fntdata"/><Relationship Id="rId28" Type="http://schemas.openxmlformats.org/officeDocument/2006/relationships/viewProps" Target="viewProp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sherahtong/Downloads/Business%20Data%20Summary%20-%20Task%20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Sheet2!$A$2</c:f>
              <c:strCache>
                <c:ptCount val="1"/>
                <c:pt idx="0">
                  <c:v>Actual Loss Ratio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Sheet2!$B$1:$C$1</c:f>
              <c:strCache>
                <c:ptCount val="2"/>
                <c:pt idx="0">
                  <c:v> Q1 2023</c:v>
                </c:pt>
                <c:pt idx="1">
                  <c:v>Q4 2023</c:v>
                </c:pt>
              </c:strCache>
            </c:strRef>
          </c:cat>
          <c:val>
            <c:numRef>
              <c:f>Sheet2!$B$2:$C$2</c:f>
              <c:numCache>
                <c:formatCode>#,##0%</c:formatCode>
                <c:ptCount val="2"/>
                <c:pt idx="0">
                  <c:v>0.68</c:v>
                </c:pt>
                <c:pt idx="1">
                  <c:v>0.74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14-8141-AA98-381185FDBF9B}"/>
            </c:ext>
          </c:extLst>
        </c:ser>
        <c:ser>
          <c:idx val="1"/>
          <c:order val="1"/>
          <c:tx>
            <c:strRef>
              <c:f>Sheet2!$A$3</c:f>
              <c:strCache>
                <c:ptCount val="1"/>
                <c:pt idx="0">
                  <c:v>Expected Loss Ratio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Sheet2!$B$1:$C$1</c:f>
              <c:strCache>
                <c:ptCount val="2"/>
                <c:pt idx="0">
                  <c:v> Q1 2023</c:v>
                </c:pt>
                <c:pt idx="1">
                  <c:v>Q4 2023</c:v>
                </c:pt>
              </c:strCache>
            </c:strRef>
          </c:cat>
          <c:val>
            <c:numRef>
              <c:f>Sheet2!$B$3:$C$3</c:f>
              <c:numCache>
                <c:formatCode>0%</c:formatCode>
                <c:ptCount val="2"/>
                <c:pt idx="0">
                  <c:v>0.68</c:v>
                </c:pt>
                <c:pt idx="1">
                  <c:v>0.68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14-8141-AA98-381185FDBF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53493104"/>
        <c:axId val="1453494816"/>
      </c:lineChart>
      <c:catAx>
        <c:axId val="1453493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zh-CN"/>
          </a:p>
        </c:txPr>
        <c:crossAx val="1453494816"/>
        <c:crosses val="autoZero"/>
        <c:auto val="1"/>
        <c:lblAlgn val="ctr"/>
        <c:lblOffset val="100"/>
        <c:noMultiLvlLbl val="0"/>
      </c:catAx>
      <c:valAx>
        <c:axId val="1453494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zh-CN"/>
          </a:p>
        </c:txPr>
        <c:crossAx val="1453493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C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51602" y="647700"/>
            <a:ext cx="636398" cy="10287000"/>
            <a:chOff x="0" y="0"/>
            <a:chExt cx="16761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11" cy="2709333"/>
            </a:xfrm>
            <a:custGeom>
              <a:avLst/>
              <a:gdLst/>
              <a:ahLst/>
              <a:cxnLst/>
              <a:rect l="l" t="t" r="r" b="b"/>
              <a:pathLst>
                <a:path w="167611" h="2709333">
                  <a:moveTo>
                    <a:pt x="0" y="0"/>
                  </a:moveTo>
                  <a:lnTo>
                    <a:pt x="167611" y="0"/>
                  </a:lnTo>
                  <a:lnTo>
                    <a:pt x="16761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7611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844397"/>
            <a:ext cx="8332987" cy="985154"/>
          </a:xfrm>
          <a:custGeom>
            <a:avLst/>
            <a:gdLst/>
            <a:ahLst/>
            <a:cxnLst/>
            <a:rect l="l" t="t" r="r" b="b"/>
            <a:pathLst>
              <a:path w="8332987" h="985154">
                <a:moveTo>
                  <a:pt x="0" y="0"/>
                </a:moveTo>
                <a:lnTo>
                  <a:pt x="8332987" y="0"/>
                </a:lnTo>
                <a:lnTo>
                  <a:pt x="8332987" y="985154"/>
                </a:lnTo>
                <a:lnTo>
                  <a:pt x="0" y="98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921067" y="4589920"/>
            <a:ext cx="11461826" cy="2096630"/>
            <a:chOff x="0" y="0"/>
            <a:chExt cx="3018752" cy="5521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18753" cy="552199"/>
            </a:xfrm>
            <a:custGeom>
              <a:avLst/>
              <a:gdLst/>
              <a:ahLst/>
              <a:cxnLst/>
              <a:rect l="l" t="t" r="r" b="b"/>
              <a:pathLst>
                <a:path w="3018753" h="552199">
                  <a:moveTo>
                    <a:pt x="34448" y="0"/>
                  </a:moveTo>
                  <a:lnTo>
                    <a:pt x="2984304" y="0"/>
                  </a:lnTo>
                  <a:cubicBezTo>
                    <a:pt x="3003330" y="0"/>
                    <a:pt x="3018753" y="15423"/>
                    <a:pt x="3018753" y="34448"/>
                  </a:cubicBezTo>
                  <a:lnTo>
                    <a:pt x="3018753" y="517751"/>
                  </a:lnTo>
                  <a:cubicBezTo>
                    <a:pt x="3018753" y="536776"/>
                    <a:pt x="3003330" y="552199"/>
                    <a:pt x="2984304" y="552199"/>
                  </a:cubicBezTo>
                  <a:lnTo>
                    <a:pt x="34448" y="552199"/>
                  </a:lnTo>
                  <a:cubicBezTo>
                    <a:pt x="15423" y="552199"/>
                    <a:pt x="0" y="536776"/>
                    <a:pt x="0" y="517751"/>
                  </a:cubicBezTo>
                  <a:lnTo>
                    <a:pt x="0" y="34448"/>
                  </a:lnTo>
                  <a:cubicBezTo>
                    <a:pt x="0" y="15423"/>
                    <a:pt x="15423" y="0"/>
                    <a:pt x="34448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018752" cy="609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61893" y="4694695"/>
            <a:ext cx="13599588" cy="203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 b="1">
                <a:solidFill>
                  <a:srgbClr val="0E2C7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 &amp; Operational Performance Trends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54478" y="3573454"/>
            <a:ext cx="12249843" cy="818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8"/>
              </a:lnSpc>
            </a:pPr>
            <a:r>
              <a:rPr lang="en-US" sz="595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Strategic Insight Slides - Draft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59506" y="8372475"/>
            <a:ext cx="6799794" cy="90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82"/>
              </a:lnSpc>
            </a:pPr>
            <a:r>
              <a:rPr lang="en-US" sz="2985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Prepared by:</a:t>
            </a:r>
            <a:r>
              <a:rPr lang="en-US" sz="2985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Yutong Wang</a:t>
            </a:r>
          </a:p>
          <a:p>
            <a:pPr algn="r">
              <a:lnSpc>
                <a:spcPts val="3582"/>
              </a:lnSpc>
            </a:pPr>
            <a:r>
              <a:rPr lang="en-US" sz="2985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Date: </a:t>
            </a:r>
            <a:r>
              <a:rPr lang="en-US" sz="2985" b="1" dirty="0">
                <a:solidFill>
                  <a:srgbClr val="FFFFFF"/>
                </a:solidFill>
                <a:latin typeface="Source Sans Pro"/>
                <a:ea typeface="Source Sans Pro"/>
                <a:cs typeface="Source Sans Pro Bold"/>
                <a:sym typeface="Source Sans Pro"/>
              </a:rPr>
              <a:t> 2026.7.18</a:t>
            </a:r>
            <a:endParaRPr lang="en-US" sz="2985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9201150"/>
            <a:ext cx="2651557" cy="321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799">
                <a:solidFill>
                  <a:srgbClr val="0E2C7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www.oliver-wyman.com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16100" y="0"/>
            <a:ext cx="3771900" cy="10283886"/>
            <a:chOff x="0" y="0"/>
            <a:chExt cx="993422" cy="27085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3422" cy="2708513"/>
            </a:xfrm>
            <a:custGeom>
              <a:avLst/>
              <a:gdLst/>
              <a:ahLst/>
              <a:cxnLst/>
              <a:rect l="l" t="t" r="r" b="b"/>
              <a:pathLst>
                <a:path w="993422" h="2708513">
                  <a:moveTo>
                    <a:pt x="0" y="0"/>
                  </a:moveTo>
                  <a:lnTo>
                    <a:pt x="993422" y="0"/>
                  </a:lnTo>
                  <a:lnTo>
                    <a:pt x="993422" y="2708513"/>
                  </a:lnTo>
                  <a:lnTo>
                    <a:pt x="0" y="2708513"/>
                  </a:lnTo>
                  <a:close/>
                </a:path>
              </a:pathLst>
            </a:custGeom>
            <a:solidFill>
              <a:srgbClr val="0E2C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93422" cy="2765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9258300"/>
            <a:ext cx="2734617" cy="323296"/>
          </a:xfrm>
          <a:custGeom>
            <a:avLst/>
            <a:gdLst/>
            <a:ahLst/>
            <a:cxnLst/>
            <a:rect l="l" t="t" r="r" b="b"/>
            <a:pathLst>
              <a:path w="2734617" h="323296">
                <a:moveTo>
                  <a:pt x="0" y="0"/>
                </a:moveTo>
                <a:lnTo>
                  <a:pt x="2734617" y="0"/>
                </a:lnTo>
                <a:lnTo>
                  <a:pt x="2734617" y="323296"/>
                </a:lnTo>
                <a:lnTo>
                  <a:pt x="0" y="323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612" y="604796"/>
            <a:ext cx="15303746" cy="760510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11804" y="6848866"/>
            <a:ext cx="14345571" cy="1129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0" lvl="1" indent="-334640" algn="l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Home and Specialty lines show highest growth in non-claims expenses</a:t>
            </a:r>
          </a:p>
          <a:p>
            <a:pPr marL="669280" lvl="1" indent="-334640" algn="l">
              <a:lnSpc>
                <a:spcPts val="4649"/>
              </a:lnSpc>
              <a:buFont typeface="Arial"/>
              <a:buChar char="•"/>
            </a:pPr>
            <a:r>
              <a:rPr lang="en-US" sz="30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IT and personnel costs identified as primary drivers from internal commentary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34442"/>
            <a:ext cx="11383467" cy="164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0"/>
              </a:lnSpc>
            </a:pPr>
            <a:r>
              <a:rPr lang="en-US" sz="6200" b="1">
                <a:solidFill>
                  <a:srgbClr val="0E2C76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Overhead &amp; Expense Ratios </a:t>
            </a:r>
          </a:p>
          <a:p>
            <a:pPr algn="l">
              <a:lnSpc>
                <a:spcPts val="5394"/>
              </a:lnSpc>
            </a:pPr>
            <a:r>
              <a:rPr lang="en-US" sz="6200" b="1">
                <a:solidFill>
                  <a:srgbClr val="0E2C76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Cont. to Rise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71347" y="9524446"/>
            <a:ext cx="7736723" cy="321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  <a:spcBef>
                <a:spcPct val="0"/>
              </a:spcBef>
            </a:pPr>
            <a:r>
              <a:rPr lang="en-US" sz="1799" b="1" i="1">
                <a:solidFill>
                  <a:srgbClr val="000000"/>
                </a:solidFill>
                <a:latin typeface="Source Sans Pro Bold Italics"/>
                <a:ea typeface="Source Sans Pro Bold Italics"/>
                <a:cs typeface="Source Sans Pro Bold Italics"/>
                <a:sym typeface="Source Sans Pro Bold Italics"/>
              </a:rPr>
              <a:t>Sofia contributed this analysis to provide financial context on cost pressure.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68" y="-632059"/>
            <a:ext cx="18273232" cy="3362325"/>
            <a:chOff x="0" y="0"/>
            <a:chExt cx="4812703" cy="8855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2703" cy="885551"/>
            </a:xfrm>
            <a:custGeom>
              <a:avLst/>
              <a:gdLst/>
              <a:ahLst/>
              <a:cxnLst/>
              <a:rect l="l" t="t" r="r" b="b"/>
              <a:pathLst>
                <a:path w="4812703" h="885551">
                  <a:moveTo>
                    <a:pt x="21607" y="0"/>
                  </a:moveTo>
                  <a:lnTo>
                    <a:pt x="4791096" y="0"/>
                  </a:lnTo>
                  <a:cubicBezTo>
                    <a:pt x="4803029" y="0"/>
                    <a:pt x="4812703" y="9674"/>
                    <a:pt x="4812703" y="21607"/>
                  </a:cubicBezTo>
                  <a:lnTo>
                    <a:pt x="4812703" y="863943"/>
                  </a:lnTo>
                  <a:cubicBezTo>
                    <a:pt x="4812703" y="875877"/>
                    <a:pt x="4803029" y="885551"/>
                    <a:pt x="4791096" y="885551"/>
                  </a:cubicBezTo>
                  <a:lnTo>
                    <a:pt x="21607" y="885551"/>
                  </a:lnTo>
                  <a:cubicBezTo>
                    <a:pt x="9674" y="885551"/>
                    <a:pt x="0" y="875877"/>
                    <a:pt x="0" y="863943"/>
                  </a:cubicBezTo>
                  <a:lnTo>
                    <a:pt x="0" y="21607"/>
                  </a:lnTo>
                  <a:cubicBezTo>
                    <a:pt x="0" y="9674"/>
                    <a:pt x="9674" y="0"/>
                    <a:pt x="21607" y="0"/>
                  </a:cubicBezTo>
                  <a:close/>
                </a:path>
              </a:pathLst>
            </a:custGeom>
            <a:solidFill>
              <a:srgbClr val="0E2C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2703" cy="942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5457" y="9182100"/>
            <a:ext cx="3510771" cy="415055"/>
          </a:xfrm>
          <a:custGeom>
            <a:avLst/>
            <a:gdLst/>
            <a:ahLst/>
            <a:cxnLst/>
            <a:rect l="l" t="t" r="r" b="b"/>
            <a:pathLst>
              <a:path w="3510771" h="415055">
                <a:moveTo>
                  <a:pt x="0" y="0"/>
                </a:moveTo>
                <a:lnTo>
                  <a:pt x="3510771" y="0"/>
                </a:lnTo>
                <a:lnTo>
                  <a:pt x="3510771" y="415055"/>
                </a:lnTo>
                <a:lnTo>
                  <a:pt x="0" y="415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189580"/>
            <a:ext cx="10697667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1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Auto Loss Ratio Rose 6pts YoY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9493" y="7754277"/>
            <a:ext cx="16230600" cy="982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2" lvl="1" indent="-280666" algn="l">
              <a:lnSpc>
                <a:spcPts val="3899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Loss ratio increased by 6 pts, which exceeds the market average</a:t>
            </a:r>
          </a:p>
          <a:p>
            <a:pPr marL="561332" lvl="1" indent="-280666" algn="l">
              <a:lnSpc>
                <a:spcPts val="3899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Market share declined despite flat pricing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9493" y="2879129"/>
            <a:ext cx="1493296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[Auto’s underperformance driven by loss ration spike and declined market share]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112E25-65F8-C0E9-8EB6-F9C6783BE72A}"/>
              </a:ext>
            </a:extLst>
          </p:cNvPr>
          <p:cNvSpPr txBox="1"/>
          <p:nvPr/>
        </p:nvSpPr>
        <p:spPr>
          <a:xfrm>
            <a:off x="1987826" y="31606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7F83203B-BEE1-2D21-A140-DD171F964C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0990518"/>
              </p:ext>
            </p:extLst>
          </p:nvPr>
        </p:nvGraphicFramePr>
        <p:xfrm>
          <a:off x="3505200" y="3552716"/>
          <a:ext cx="10102270" cy="4180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89890" y="-1731965"/>
            <a:ext cx="5334109" cy="4434906"/>
            <a:chOff x="0" y="0"/>
            <a:chExt cx="1404868" cy="11680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4868" cy="1168041"/>
            </a:xfrm>
            <a:custGeom>
              <a:avLst/>
              <a:gdLst/>
              <a:ahLst/>
              <a:cxnLst/>
              <a:rect l="l" t="t" r="r" b="b"/>
              <a:pathLst>
                <a:path w="1404868" h="1168041">
                  <a:moveTo>
                    <a:pt x="74021" y="0"/>
                  </a:moveTo>
                  <a:lnTo>
                    <a:pt x="1330847" y="0"/>
                  </a:lnTo>
                  <a:cubicBezTo>
                    <a:pt x="1371728" y="0"/>
                    <a:pt x="1404868" y="33140"/>
                    <a:pt x="1404868" y="74021"/>
                  </a:cubicBezTo>
                  <a:lnTo>
                    <a:pt x="1404868" y="1094020"/>
                  </a:lnTo>
                  <a:cubicBezTo>
                    <a:pt x="1404868" y="1134900"/>
                    <a:pt x="1371728" y="1168041"/>
                    <a:pt x="1330847" y="1168041"/>
                  </a:cubicBezTo>
                  <a:lnTo>
                    <a:pt x="74021" y="1168041"/>
                  </a:lnTo>
                  <a:cubicBezTo>
                    <a:pt x="33140" y="1168041"/>
                    <a:pt x="0" y="1134900"/>
                    <a:pt x="0" y="1094020"/>
                  </a:cubicBezTo>
                  <a:lnTo>
                    <a:pt x="0" y="74021"/>
                  </a:lnTo>
                  <a:cubicBezTo>
                    <a:pt x="0" y="33140"/>
                    <a:pt x="33140" y="0"/>
                    <a:pt x="74021" y="0"/>
                  </a:cubicBezTo>
                  <a:close/>
                </a:path>
              </a:pathLst>
            </a:custGeom>
            <a:solidFill>
              <a:srgbClr val="0E2C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404868" cy="1225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8843245"/>
            <a:ext cx="3510771" cy="415055"/>
          </a:xfrm>
          <a:custGeom>
            <a:avLst/>
            <a:gdLst/>
            <a:ahLst/>
            <a:cxnLst/>
            <a:rect l="l" t="t" r="r" b="b"/>
            <a:pathLst>
              <a:path w="3510771" h="415055">
                <a:moveTo>
                  <a:pt x="0" y="0"/>
                </a:moveTo>
                <a:lnTo>
                  <a:pt x="3510771" y="0"/>
                </a:lnTo>
                <a:lnTo>
                  <a:pt x="3510771" y="415055"/>
                </a:lnTo>
                <a:lnTo>
                  <a:pt x="0" y="415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362376" y="867772"/>
            <a:ext cx="10697667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039"/>
              </a:lnSpc>
            </a:pPr>
            <a:r>
              <a:rPr lang="en-US" sz="6399" b="1" dirty="0">
                <a:solidFill>
                  <a:srgbClr val="0E2C76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Auto overall performance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05000" y="4000500"/>
            <a:ext cx="15155043" cy="286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95350" lvl="1" indent="-571500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E2C76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Hypothesis 1: </a:t>
            </a:r>
            <a:r>
              <a:rPr lang="en-US" sz="3600" dirty="0">
                <a:solidFill>
                  <a:srgbClr val="0E2C76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Performance erosion is likely due to inappropriate risk selection without corresponding change in pricing</a:t>
            </a:r>
            <a:endParaRPr lang="en-US" sz="3600" dirty="0">
              <a:solidFill>
                <a:srgbClr val="0E2C7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23850" lvl="1" algn="l">
              <a:lnSpc>
                <a:spcPts val="4500"/>
              </a:lnSpc>
            </a:pPr>
            <a:endParaRPr lang="en-US" sz="3600" dirty="0">
              <a:solidFill>
                <a:srgbClr val="0E2C7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895350" lvl="1" indent="-571500" algn="l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E2C76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Hypothesis 2: C</a:t>
            </a:r>
            <a:r>
              <a:rPr lang="en-US" sz="3600" b="1" dirty="0">
                <a:solidFill>
                  <a:srgbClr val="0E2C76"/>
                </a:solidFill>
                <a:latin typeface="Source Sans Pro"/>
                <a:ea typeface="Source Sans Pro"/>
                <a:cs typeface="Source Sans Pro Bold"/>
                <a:sym typeface="Source Sans Pro"/>
              </a:rPr>
              <a:t>laims processing delays may be inflating incurred losses beyond projections</a:t>
            </a:r>
            <a:endParaRPr lang="en-US" sz="3600" b="1" dirty="0">
              <a:solidFill>
                <a:srgbClr val="0E2C7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C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5455" y="8201595"/>
            <a:ext cx="6283845" cy="1436838"/>
            <a:chOff x="0" y="0"/>
            <a:chExt cx="1655004" cy="3784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5004" cy="378427"/>
            </a:xfrm>
            <a:custGeom>
              <a:avLst/>
              <a:gdLst/>
              <a:ahLst/>
              <a:cxnLst/>
              <a:rect l="l" t="t" r="r" b="b"/>
              <a:pathLst>
                <a:path w="1655004" h="378427">
                  <a:moveTo>
                    <a:pt x="62834" y="0"/>
                  </a:moveTo>
                  <a:lnTo>
                    <a:pt x="1592171" y="0"/>
                  </a:lnTo>
                  <a:cubicBezTo>
                    <a:pt x="1608835" y="0"/>
                    <a:pt x="1624817" y="6620"/>
                    <a:pt x="1636601" y="18404"/>
                  </a:cubicBezTo>
                  <a:cubicBezTo>
                    <a:pt x="1648384" y="30187"/>
                    <a:pt x="1655004" y="46169"/>
                    <a:pt x="1655004" y="62834"/>
                  </a:cubicBezTo>
                  <a:lnTo>
                    <a:pt x="1655004" y="315593"/>
                  </a:lnTo>
                  <a:cubicBezTo>
                    <a:pt x="1655004" y="350295"/>
                    <a:pt x="1626873" y="378427"/>
                    <a:pt x="1592171" y="378427"/>
                  </a:cubicBezTo>
                  <a:lnTo>
                    <a:pt x="62834" y="378427"/>
                  </a:lnTo>
                  <a:cubicBezTo>
                    <a:pt x="46169" y="378427"/>
                    <a:pt x="30187" y="371807"/>
                    <a:pt x="18404" y="360023"/>
                  </a:cubicBezTo>
                  <a:cubicBezTo>
                    <a:pt x="6620" y="348239"/>
                    <a:pt x="0" y="332257"/>
                    <a:pt x="0" y="315593"/>
                  </a:cubicBezTo>
                  <a:lnTo>
                    <a:pt x="0" y="62834"/>
                  </a:lnTo>
                  <a:cubicBezTo>
                    <a:pt x="0" y="28132"/>
                    <a:pt x="28132" y="0"/>
                    <a:pt x="62834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55004" cy="4355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374177" y="1028700"/>
            <a:ext cx="5486400" cy="8229600"/>
            <a:chOff x="0" y="0"/>
            <a:chExt cx="6350000" cy="9525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2"/>
              <a:stretch>
                <a:fillRect t="-31" b="-3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598828"/>
            <a:ext cx="3636096" cy="429872"/>
          </a:xfrm>
          <a:custGeom>
            <a:avLst/>
            <a:gdLst/>
            <a:ahLst/>
            <a:cxnLst/>
            <a:rect l="l" t="t" r="r" b="b"/>
            <a:pathLst>
              <a:path w="3636096" h="429872">
                <a:moveTo>
                  <a:pt x="0" y="0"/>
                </a:moveTo>
                <a:lnTo>
                  <a:pt x="3636096" y="0"/>
                </a:lnTo>
                <a:lnTo>
                  <a:pt x="3636096" y="429872"/>
                </a:lnTo>
                <a:lnTo>
                  <a:pt x="0" y="429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37167" y="1464300"/>
            <a:ext cx="6471792" cy="1294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4"/>
              </a:lnSpc>
            </a:pPr>
            <a:r>
              <a:rPr lang="en-US" sz="9131" b="1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Next Steps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929539"/>
            <a:ext cx="9362497" cy="57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lang="en-US" sz="1999" i="1">
                <a:solidFill>
                  <a:srgbClr val="FFFFFF"/>
                </a:solidFill>
                <a:latin typeface="Source Sans Pro Italics"/>
                <a:ea typeface="Source Sans Pro Italics"/>
                <a:cs typeface="Source Sans Pro Italics"/>
                <a:sym typeface="Source Sans Pro Italics"/>
              </a:rPr>
              <a:t>Final Note: Draft slides intended for internal discussion only. Subject to revision based on team input.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8106" y="4545182"/>
            <a:ext cx="1004984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8"/>
              </a:lnSpc>
            </a:pPr>
            <a:r>
              <a:rPr lang="en-US" sz="390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Internal Alignment: What to Explore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8403" y="5446543"/>
            <a:ext cx="9529257" cy="1673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3" lvl="1" indent="-269871" algn="l">
              <a:lnSpc>
                <a:spcPts val="4524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Deep dive on underwriting segmentation in Auto</a:t>
            </a:r>
          </a:p>
          <a:p>
            <a:pPr marL="539743" lvl="1" indent="-269871" algn="l">
              <a:lnSpc>
                <a:spcPts val="4524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Explore pricing consistency across high-loss states</a:t>
            </a:r>
          </a:p>
          <a:p>
            <a:pPr marL="539743" lvl="1" indent="-269871" algn="l">
              <a:lnSpc>
                <a:spcPts val="4524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Flag anomalies for stakeholder interviews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8370</TotalTime>
  <Words>179</Words>
  <Application>Microsoft Macintosh PowerPoint</Application>
  <PresentationFormat>自定义</PresentationFormat>
  <Paragraphs>24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Source Sans Pro Bold Italics</vt:lpstr>
      <vt:lpstr>Source Sans Pro Bold</vt:lpstr>
      <vt:lpstr>Calibri</vt:lpstr>
      <vt:lpstr>Montserrat Semi-Bold</vt:lpstr>
      <vt:lpstr>Source Sans Pro</vt:lpstr>
      <vt:lpstr>Montserrat</vt:lpstr>
      <vt:lpstr>Montserrat Bold</vt:lpstr>
      <vt:lpstr>Source Sans Pro Italics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Oliver Wyman - Strategic Insight Slides Template - Task 2</dc:title>
  <cp:lastModifiedBy>Yutong WANG (20809509)</cp:lastModifiedBy>
  <cp:revision>6</cp:revision>
  <dcterms:created xsi:type="dcterms:W3CDTF">2006-08-16T00:00:00Z</dcterms:created>
  <dcterms:modified xsi:type="dcterms:W3CDTF">2026-08-19T03:18:46Z</dcterms:modified>
  <dc:identifier>DAGqi9h7VuY</dc:identifier>
</cp:coreProperties>
</file>