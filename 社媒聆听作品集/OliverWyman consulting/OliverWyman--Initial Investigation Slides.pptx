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等线" panose="02010600030101010101" pitchFamily="2" charset="-122"/>
      <p:regular r:id="rId8"/>
      <p:bold r:id="rId9"/>
    </p:embeddedFont>
    <p:embeddedFont>
      <p:font typeface="Montserrat Bold" pitchFamily="2" charset="0"/>
      <p:regular r:id="rId10"/>
      <p:bold r:id="rId11"/>
    </p:embeddedFont>
    <p:embeddedFont>
      <p:font typeface="Montserrat Medium" panose="00000600000000000000" pitchFamily="2" charset="0"/>
      <p:regular r:id="rId12"/>
      <p:italic r:id="rId13"/>
    </p:embeddedFont>
    <p:embeddedFont>
      <p:font typeface="Montserrat Semi-Bold" pitchFamily="2" charset="0"/>
      <p:regular r:id="rId14"/>
      <p:bold r:id="rId15"/>
    </p:embeddedFont>
    <p:embeddedFont>
      <p:font typeface="Open Sans" panose="020B0606030504020204" pitchFamily="34" charset="0"/>
      <p:regular r:id="rId16"/>
      <p:bold r:id="rId17"/>
      <p:italic r:id="rId18"/>
      <p:boldItalic r:id="rId19"/>
    </p:embeddedFont>
    <p:embeddedFont>
      <p:font typeface="Open Sans Bold" pitchFamily="2" charset="0"/>
      <p:regular r:id="rId20"/>
      <p:bold r:id="rId21"/>
    </p:embeddedFont>
    <p:embeddedFont>
      <p:font typeface="Poppins" pitchFamily="2" charset="0"/>
      <p:regular r:id="rId22"/>
      <p:bold r:id="rId23"/>
      <p:italic r:id="rId24"/>
      <p:boldItalic r:id="rId25"/>
    </p:embeddedFont>
    <p:embeddedFont>
      <p:font typeface="Source Sans Pro" panose="020B0503030403020204" pitchFamily="34" charset="0"/>
      <p:regular r:id="rId26"/>
      <p:bold r:id="rId27"/>
      <p:italic r:id="rId28"/>
      <p:boldItalic r:id="rId29"/>
    </p:embeddedFont>
    <p:embeddedFont>
      <p:font typeface="Source Sans Pro Bold" panose="020B0703030403020204" pitchFamily="34" charset="0"/>
      <p:regular r:id="rId30"/>
      <p:bold r:id="rId31"/>
    </p:embeddedFont>
    <p:embeddedFont>
      <p:font typeface="Source Sans Pro Italics" panose="020B0503030403090204" pitchFamily="34" charset="0"/>
      <p:regular r:id="rId32"/>
      <p: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CDF111-A4D9-9747-B103-D6E8820A3A7A}" v="37" dt="2026-08-18T09:23:26.3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80" autoAdjust="0"/>
    <p:restoredTop sz="94565" autoAdjust="0"/>
  </p:normalViewPr>
  <p:slideViewPr>
    <p:cSldViewPr>
      <p:cViewPr varScale="1">
        <p:scale>
          <a:sx n="75" d="100"/>
          <a:sy n="75" d="100"/>
        </p:scale>
        <p:origin x="408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openxmlformats.org/officeDocument/2006/relationships/font" Target="fonts/font19.fntdata"/><Relationship Id="rId21" Type="http://schemas.openxmlformats.org/officeDocument/2006/relationships/font" Target="fonts/font14.fntdata"/><Relationship Id="rId34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font" Target="fonts/font18.fntdata"/><Relationship Id="rId33" Type="http://schemas.openxmlformats.org/officeDocument/2006/relationships/font" Target="fonts/font26.fntdata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29" Type="http://schemas.openxmlformats.org/officeDocument/2006/relationships/font" Target="fonts/font2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font" Target="fonts/font17.fntdata"/><Relationship Id="rId32" Type="http://schemas.openxmlformats.org/officeDocument/2006/relationships/font" Target="fonts/font2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font" Target="fonts/font16.fntdata"/><Relationship Id="rId28" Type="http://schemas.openxmlformats.org/officeDocument/2006/relationships/font" Target="fonts/font21.fntdata"/><Relationship Id="rId36" Type="http://schemas.openxmlformats.org/officeDocument/2006/relationships/theme" Target="theme/theme1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31" Type="http://schemas.openxmlformats.org/officeDocument/2006/relationships/font" Target="fonts/font24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Relationship Id="rId27" Type="http://schemas.openxmlformats.org/officeDocument/2006/relationships/font" Target="fonts/font20.fntdata"/><Relationship Id="rId30" Type="http://schemas.openxmlformats.org/officeDocument/2006/relationships/font" Target="fonts/font23.fntdata"/><Relationship Id="rId35" Type="http://schemas.openxmlformats.org/officeDocument/2006/relationships/viewProps" Target="viewProps.xml"/><Relationship Id="rId8" Type="http://schemas.openxmlformats.org/officeDocument/2006/relationships/font" Target="fonts/font1.fntdata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asherahtong/Downloads/Business%20Data%20Summary%20-%20Task%20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95" b="1" i="0" u="none" strike="noStrike" kern="1200" cap="all" spc="10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Auto Combined Ratio    Q1-Q4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95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Auto</c:v>
                </c:pt>
              </c:strCache>
            </c:strRef>
          </c:tx>
          <c:spPr>
            <a:ln w="34925" cap="rnd">
              <a:solidFill>
                <a:schemeClr val="lt1"/>
              </a:solidFill>
              <a:round/>
            </a:ln>
            <a:effectLst>
              <a:outerShdw dist="25400" dir="2700000" algn="tl" rotWithShape="0">
                <a:schemeClr val="accent1"/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[$Q]0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cat>
          <c:val>
            <c:numRef>
              <c:f>Sheet1!$B$2:$B$5</c:f>
              <c:numCache>
                <c:formatCode>#,##0%</c:formatCode>
                <c:ptCount val="4"/>
                <c:pt idx="0">
                  <c:v>0.98</c:v>
                </c:pt>
                <c:pt idx="1">
                  <c:v>1.01</c:v>
                </c:pt>
                <c:pt idx="2">
                  <c:v>1.06</c:v>
                </c:pt>
                <c:pt idx="3">
                  <c:v>1.1000000000000001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B96-AD4A-A97F-7C6EDF3D59A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gradFill>
                <a:gsLst>
                  <a:gs pos="0">
                    <a:schemeClr val="lt1"/>
                  </a:gs>
                  <a:gs pos="100000">
                    <a:schemeClr val="lt1">
                      <a:alpha val="0"/>
                    </a:schemeClr>
                  </a:gs>
                </a:gsLst>
                <a:lin ang="5400000" scaled="0"/>
              </a:gradFill>
              <a:round/>
            </a:ln>
            <a:effectLst/>
          </c:spPr>
        </c:dropLines>
        <c:smooth val="0"/>
        <c:axId val="1453570704"/>
        <c:axId val="1453562352"/>
      </c:lineChart>
      <c:catAx>
        <c:axId val="1453570704"/>
        <c:scaling>
          <c:orientation val="minMax"/>
        </c:scaling>
        <c:delete val="0"/>
        <c:axPos val="b"/>
        <c:numFmt formatCode="[$Q]0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53562352"/>
        <c:crosses val="autoZero"/>
        <c:auto val="1"/>
        <c:lblAlgn val="ctr"/>
        <c:lblOffset val="100"/>
        <c:noMultiLvlLbl val="0"/>
      </c:catAx>
      <c:valAx>
        <c:axId val="1453562352"/>
        <c:scaling>
          <c:orientation val="minMax"/>
        </c:scaling>
        <c:delete val="0"/>
        <c:axPos val="l"/>
        <c:numFmt formatCode="#,##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535707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9">
  <cs:axisTitle>
    <cs:lnRef idx="0"/>
    <cs:fillRef idx="0"/>
    <cs:effectRef idx="0"/>
    <cs:fontRef idx="minor">
      <a:schemeClr val="lt1"/>
    </cs:fontRef>
    <cs:defRPr sz="1197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12700" cap="flat" cmpd="sng" algn="ctr">
        <a:solidFill>
          <a:schemeClr val="lt1"/>
        </a:solidFill>
        <a:round/>
      </a:ln>
    </cs:spPr>
    <cs:defRPr sz="1197" kern="1200" spc="10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330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1197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lt1"/>
            </a:gs>
            <a:gs pos="100000">
              <a:schemeClr val="lt1">
                <a:alpha val="0"/>
              </a:schemeClr>
            </a:gs>
          </a:gsLst>
          <a:lin ang="5400000" scaled="0"/>
        </a:gradFill>
        <a:round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1197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995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1197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7A5EF2-4739-2248-854F-168266EBF914}" type="datetimeFigureOut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A5618-9497-4749-85D5-E913073552F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0984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5618-9497-4749-85D5-E913073552FA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01400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C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651602" y="0"/>
            <a:ext cx="636398" cy="10287000"/>
            <a:chOff x="0" y="0"/>
            <a:chExt cx="167611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11" cy="2709333"/>
            </a:xfrm>
            <a:custGeom>
              <a:avLst/>
              <a:gdLst/>
              <a:ahLst/>
              <a:cxnLst/>
              <a:rect l="l" t="t" r="r" b="b"/>
              <a:pathLst>
                <a:path w="167611" h="2709333">
                  <a:moveTo>
                    <a:pt x="0" y="0"/>
                  </a:moveTo>
                  <a:lnTo>
                    <a:pt x="167611" y="0"/>
                  </a:lnTo>
                  <a:lnTo>
                    <a:pt x="16761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67611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844397"/>
            <a:ext cx="8332987" cy="985154"/>
          </a:xfrm>
          <a:custGeom>
            <a:avLst/>
            <a:gdLst/>
            <a:ahLst/>
            <a:cxnLst/>
            <a:rect l="l" t="t" r="r" b="b"/>
            <a:pathLst>
              <a:path w="8332987" h="985154">
                <a:moveTo>
                  <a:pt x="0" y="0"/>
                </a:moveTo>
                <a:lnTo>
                  <a:pt x="8332987" y="0"/>
                </a:lnTo>
                <a:lnTo>
                  <a:pt x="8332987" y="985154"/>
                </a:lnTo>
                <a:lnTo>
                  <a:pt x="0" y="9851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921067" y="4589920"/>
            <a:ext cx="13398513" cy="2096630"/>
            <a:chOff x="0" y="0"/>
            <a:chExt cx="3528826" cy="55219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528826" cy="552199"/>
            </a:xfrm>
            <a:custGeom>
              <a:avLst/>
              <a:gdLst/>
              <a:ahLst/>
              <a:cxnLst/>
              <a:rect l="l" t="t" r="r" b="b"/>
              <a:pathLst>
                <a:path w="3528826" h="552199">
                  <a:moveTo>
                    <a:pt x="29469" y="0"/>
                  </a:moveTo>
                  <a:lnTo>
                    <a:pt x="3499358" y="0"/>
                  </a:lnTo>
                  <a:cubicBezTo>
                    <a:pt x="3515633" y="0"/>
                    <a:pt x="3528826" y="13194"/>
                    <a:pt x="3528826" y="29469"/>
                  </a:cubicBezTo>
                  <a:lnTo>
                    <a:pt x="3528826" y="522730"/>
                  </a:lnTo>
                  <a:cubicBezTo>
                    <a:pt x="3528826" y="539005"/>
                    <a:pt x="3515633" y="552199"/>
                    <a:pt x="3499358" y="552199"/>
                  </a:cubicBezTo>
                  <a:lnTo>
                    <a:pt x="29469" y="552199"/>
                  </a:lnTo>
                  <a:cubicBezTo>
                    <a:pt x="13194" y="552199"/>
                    <a:pt x="0" y="539005"/>
                    <a:pt x="0" y="522730"/>
                  </a:cubicBezTo>
                  <a:lnTo>
                    <a:pt x="0" y="29469"/>
                  </a:lnTo>
                  <a:cubicBezTo>
                    <a:pt x="0" y="13194"/>
                    <a:pt x="13194" y="0"/>
                    <a:pt x="29469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3528826" cy="609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561893" y="4694695"/>
            <a:ext cx="13599588" cy="2026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75"/>
              </a:lnSpc>
            </a:pPr>
            <a:r>
              <a:rPr lang="en-US" sz="7500" b="1" dirty="0">
                <a:solidFill>
                  <a:srgbClr val="0E2C7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Financial Performance Analysis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95402" y="3302678"/>
            <a:ext cx="12249843" cy="100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13"/>
              </a:lnSpc>
            </a:pPr>
            <a:r>
              <a:rPr lang="en-US" sz="725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Initial Investigation - Internal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59506" y="8372475"/>
            <a:ext cx="6799794" cy="13693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582"/>
              </a:lnSpc>
            </a:pPr>
            <a:r>
              <a:rPr lang="en-US" sz="2985" b="1" dirty="0">
                <a:solidFill>
                  <a:srgbClr val="FFFFFF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Prepared for :</a:t>
            </a:r>
            <a:r>
              <a:rPr lang="en-US" sz="2985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Leo - Project Manager </a:t>
            </a:r>
            <a:r>
              <a:rPr lang="en-US" sz="2985" b="1" dirty="0">
                <a:solidFill>
                  <a:srgbClr val="FFFFFF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Created by: </a:t>
            </a:r>
            <a:r>
              <a:rPr lang="en-US" sz="2985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Yutong Wang- Consultant</a:t>
            </a:r>
          </a:p>
          <a:p>
            <a:pPr algn="r">
              <a:lnSpc>
                <a:spcPts val="3582"/>
              </a:lnSpc>
            </a:pPr>
            <a:r>
              <a:rPr lang="en-US" sz="2985" b="1" dirty="0">
                <a:solidFill>
                  <a:srgbClr val="FFFFFF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Date: </a:t>
            </a:r>
            <a:r>
              <a:rPr lang="en-US" sz="2985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2026.7.17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9201150"/>
            <a:ext cx="2651557" cy="321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1799">
                <a:solidFill>
                  <a:srgbClr val="0E2C7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www.oliver-wyman.com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39800" y="29633"/>
            <a:ext cx="4648200" cy="10283886"/>
            <a:chOff x="0" y="0"/>
            <a:chExt cx="993422" cy="27085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93422" cy="2708513"/>
            </a:xfrm>
            <a:custGeom>
              <a:avLst/>
              <a:gdLst/>
              <a:ahLst/>
              <a:cxnLst/>
              <a:rect l="l" t="t" r="r" b="b"/>
              <a:pathLst>
                <a:path w="993422" h="2708513">
                  <a:moveTo>
                    <a:pt x="0" y="0"/>
                  </a:moveTo>
                  <a:lnTo>
                    <a:pt x="993422" y="0"/>
                  </a:lnTo>
                  <a:lnTo>
                    <a:pt x="993422" y="2708513"/>
                  </a:lnTo>
                  <a:lnTo>
                    <a:pt x="0" y="2708513"/>
                  </a:lnTo>
                  <a:close/>
                </a:path>
              </a:pathLst>
            </a:custGeom>
            <a:solidFill>
              <a:srgbClr val="0E2C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993422" cy="27656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71316" y="4628690"/>
            <a:ext cx="9972884" cy="2693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6" lvl="1" indent="-215898" algn="l">
              <a:lnSpc>
                <a:spcPts val="299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Auto line shows a consecutive increase in combined ratio, indicating consistent issues on pricing, client selection and efficiency.</a:t>
            </a:r>
          </a:p>
          <a:p>
            <a:pPr algn="l">
              <a:lnSpc>
                <a:spcPts val="2999"/>
              </a:lnSpc>
            </a:pPr>
            <a:endParaRPr lang="en-US" sz="2800" dirty="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31796" lvl="1" indent="-215898" algn="l">
              <a:lnSpc>
                <a:spcPts val="299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Expense ratio (driven by marketing and tech costs ) increased by 2% compared with last year’s index while total premium still declines, implying inefficiency in marketing and tech strategies.</a:t>
            </a:r>
          </a:p>
        </p:txBody>
      </p:sp>
      <p:sp>
        <p:nvSpPr>
          <p:cNvPr id="8" name="Freeform 8"/>
          <p:cNvSpPr/>
          <p:nvPr/>
        </p:nvSpPr>
        <p:spPr>
          <a:xfrm>
            <a:off x="1028700" y="9258300"/>
            <a:ext cx="2734617" cy="323296"/>
          </a:xfrm>
          <a:custGeom>
            <a:avLst/>
            <a:gdLst/>
            <a:ahLst/>
            <a:cxnLst/>
            <a:rect l="l" t="t" r="r" b="b"/>
            <a:pathLst>
              <a:path w="2734617" h="323296">
                <a:moveTo>
                  <a:pt x="0" y="0"/>
                </a:moveTo>
                <a:lnTo>
                  <a:pt x="2734617" y="0"/>
                </a:lnTo>
                <a:lnTo>
                  <a:pt x="2734617" y="323296"/>
                </a:lnTo>
                <a:lnTo>
                  <a:pt x="0" y="3232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028700" y="495300"/>
            <a:ext cx="10084843" cy="90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 b="1" dirty="0">
                <a:solidFill>
                  <a:srgbClr val="0E2C76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Early Data Observations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1767" y="2705100"/>
            <a:ext cx="9972883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2400" dirty="0">
                <a:solidFill>
                  <a:srgbClr val="0E2C7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This analysis provides an initial review of performance trends in the insurance business unit. Key metrics from the client’s internal reports were examined across multiple lines and time periods.</a:t>
            </a:r>
          </a:p>
        </p:txBody>
      </p:sp>
      <p:graphicFrame>
        <p:nvGraphicFramePr>
          <p:cNvPr id="15" name="图表 14">
            <a:extLst>
              <a:ext uri="{FF2B5EF4-FFF2-40B4-BE49-F238E27FC236}">
                <a16:creationId xmlns:a16="http://schemas.microsoft.com/office/drawing/2014/main" id="{8635E1AD-58D4-6998-E6ED-5FEB796D85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5861043"/>
              </p:ext>
            </p:extLst>
          </p:nvPr>
        </p:nvGraphicFramePr>
        <p:xfrm>
          <a:off x="11277600" y="1562100"/>
          <a:ext cx="6693750" cy="4038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68" y="-632059"/>
            <a:ext cx="18273232" cy="3362325"/>
            <a:chOff x="0" y="0"/>
            <a:chExt cx="4812703" cy="8855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2703" cy="885551"/>
            </a:xfrm>
            <a:custGeom>
              <a:avLst/>
              <a:gdLst/>
              <a:ahLst/>
              <a:cxnLst/>
              <a:rect l="l" t="t" r="r" b="b"/>
              <a:pathLst>
                <a:path w="4812703" h="885551">
                  <a:moveTo>
                    <a:pt x="21607" y="0"/>
                  </a:moveTo>
                  <a:lnTo>
                    <a:pt x="4791096" y="0"/>
                  </a:lnTo>
                  <a:cubicBezTo>
                    <a:pt x="4803029" y="0"/>
                    <a:pt x="4812703" y="9674"/>
                    <a:pt x="4812703" y="21607"/>
                  </a:cubicBezTo>
                  <a:lnTo>
                    <a:pt x="4812703" y="863943"/>
                  </a:lnTo>
                  <a:cubicBezTo>
                    <a:pt x="4812703" y="875877"/>
                    <a:pt x="4803029" y="885551"/>
                    <a:pt x="4791096" y="885551"/>
                  </a:cubicBezTo>
                  <a:lnTo>
                    <a:pt x="21607" y="885551"/>
                  </a:lnTo>
                  <a:cubicBezTo>
                    <a:pt x="9674" y="885551"/>
                    <a:pt x="0" y="875877"/>
                    <a:pt x="0" y="863943"/>
                  </a:cubicBezTo>
                  <a:lnTo>
                    <a:pt x="0" y="21607"/>
                  </a:lnTo>
                  <a:cubicBezTo>
                    <a:pt x="0" y="9674"/>
                    <a:pt x="9674" y="0"/>
                    <a:pt x="21607" y="0"/>
                  </a:cubicBezTo>
                  <a:close/>
                </a:path>
              </a:pathLst>
            </a:custGeom>
            <a:solidFill>
              <a:srgbClr val="0E2C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2703" cy="9427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8843245"/>
            <a:ext cx="3510771" cy="415055"/>
          </a:xfrm>
          <a:custGeom>
            <a:avLst/>
            <a:gdLst/>
            <a:ahLst/>
            <a:cxnLst/>
            <a:rect l="l" t="t" r="r" b="b"/>
            <a:pathLst>
              <a:path w="3510771" h="415055">
                <a:moveTo>
                  <a:pt x="0" y="0"/>
                </a:moveTo>
                <a:lnTo>
                  <a:pt x="3510771" y="0"/>
                </a:lnTo>
                <a:lnTo>
                  <a:pt x="3510771" y="415055"/>
                </a:lnTo>
                <a:lnTo>
                  <a:pt x="0" y="4150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1085850"/>
            <a:ext cx="8851900" cy="90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 b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Working Hypotheses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089562"/>
            <a:ext cx="15640271" cy="1122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3400">
                <a:solidFill>
                  <a:srgbClr val="0E2C76"/>
                </a:solidFill>
                <a:latin typeface="Poppins"/>
                <a:ea typeface="Poppins"/>
                <a:cs typeface="Poppins"/>
                <a:sym typeface="Poppins"/>
              </a:rPr>
              <a:t>Based on observed data patterns, the following hypotheses are proposed to guide further investigation and stakeholder interviews.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6084" y="4991100"/>
            <a:ext cx="16230600" cy="261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4" lvl="1" indent="-248282" algn="l">
              <a:lnSpc>
                <a:spcPct val="15000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Decline in total premiums might be attributed to inefficient marketing and tech strategies</a:t>
            </a:r>
          </a:p>
          <a:p>
            <a:pPr marL="496564" lvl="1" indent="-248282" algn="l">
              <a:lnSpc>
                <a:spcPct val="15000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 volume drop in Auto new business may stem from pricing uncompetitiveness</a:t>
            </a:r>
          </a:p>
          <a:p>
            <a:pPr marL="496564" lvl="1" indent="-248282" algn="l">
              <a:lnSpc>
                <a:spcPct val="15000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Claims frequency may have increased referring from the increase in loss ratio</a:t>
            </a:r>
          </a:p>
          <a:p>
            <a:pPr marL="248282" lvl="1" algn="l">
              <a:lnSpc>
                <a:spcPts val="3449"/>
              </a:lnSpc>
            </a:pPr>
            <a:endParaRPr lang="en-US" sz="2299" dirty="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525368"/>
              </p:ext>
            </p:extLst>
          </p:nvPr>
        </p:nvGraphicFramePr>
        <p:xfrm>
          <a:off x="851900" y="4610100"/>
          <a:ext cx="16407400" cy="4068263"/>
        </p:xfrm>
        <a:graphic>
          <a:graphicData uri="http://schemas.openxmlformats.org/drawingml/2006/table">
            <a:tbl>
              <a:tblPr/>
              <a:tblGrid>
                <a:gridCol w="4029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91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91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72008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Metric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Trend/% Change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Product Line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Relevance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1813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dirty="0">
                          <a:solidFill>
                            <a:srgbClr val="0E2C7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[e.g., Loss Ratio]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E2C7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[e.g., =6 pts YoY]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E2C7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[Auto]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E2C7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[e.g., indicates rising claims severity]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883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2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Combined ratio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2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 pts QoQ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2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Auto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2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Indicates worsening products sales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5762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2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Expense ratio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2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 pts YoY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2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whole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2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Indicates issues on operational costs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4522538" y="3437410"/>
            <a:ext cx="8076785" cy="749853"/>
            <a:chOff x="0" y="0"/>
            <a:chExt cx="10769047" cy="999804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0769047" cy="999804"/>
              <a:chOff x="0" y="0"/>
              <a:chExt cx="2127219" cy="19749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127219" cy="197492"/>
              </a:xfrm>
              <a:custGeom>
                <a:avLst/>
                <a:gdLst/>
                <a:ahLst/>
                <a:cxnLst/>
                <a:rect l="l" t="t" r="r" b="b"/>
                <a:pathLst>
                  <a:path w="2127219" h="197492">
                    <a:moveTo>
                      <a:pt x="0" y="0"/>
                    </a:moveTo>
                    <a:lnTo>
                      <a:pt x="2127219" y="0"/>
                    </a:lnTo>
                    <a:lnTo>
                      <a:pt x="2127219" y="197492"/>
                    </a:lnTo>
                    <a:lnTo>
                      <a:pt x="0" y="197492"/>
                    </a:lnTo>
                    <a:close/>
                  </a:path>
                </a:pathLst>
              </a:custGeom>
              <a:solidFill>
                <a:srgbClr val="0E2C7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57150"/>
                <a:ext cx="2127219" cy="2546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9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236177" y="149274"/>
              <a:ext cx="10296693" cy="6441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86"/>
                </a:lnSpc>
              </a:pPr>
              <a:r>
                <a:rPr lang="en-US" sz="2918" b="1">
                  <a:solidFill>
                    <a:srgbClr val="FFFFFF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Metrics That  Inform Our  Hypothesis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-19334" y="-188896"/>
            <a:ext cx="7848600" cy="275023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99"/>
              </a:lnSpc>
            </a:pPr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1028700" y="9258300"/>
            <a:ext cx="3510771" cy="415055"/>
          </a:xfrm>
          <a:custGeom>
            <a:avLst/>
            <a:gdLst/>
            <a:ahLst/>
            <a:cxnLst/>
            <a:rect l="l" t="t" r="r" b="b"/>
            <a:pathLst>
              <a:path w="3510771" h="415055">
                <a:moveTo>
                  <a:pt x="0" y="0"/>
                </a:moveTo>
                <a:lnTo>
                  <a:pt x="3510771" y="0"/>
                </a:lnTo>
                <a:lnTo>
                  <a:pt x="3510771" y="415055"/>
                </a:lnTo>
                <a:lnTo>
                  <a:pt x="0" y="4150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7492059" y="268229"/>
            <a:ext cx="9866214" cy="90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039"/>
              </a:lnSpc>
            </a:pPr>
            <a:r>
              <a:rPr lang="en-US" sz="6399" b="1" dirty="0">
                <a:solidFill>
                  <a:srgbClr val="0E2C76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Supporting Data Points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66012" y="2187757"/>
            <a:ext cx="9693288" cy="697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11"/>
              </a:lnSpc>
            </a:pPr>
            <a:r>
              <a:rPr lang="en-US" sz="2600" dirty="0">
                <a:solidFill>
                  <a:srgbClr val="0E2C7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These data points were identified as particularly relevant to the performance concerns raised by the client</a:t>
            </a:r>
            <a:r>
              <a:rPr lang="en-US" sz="2399" dirty="0">
                <a:solidFill>
                  <a:srgbClr val="0E2C7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C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75455" y="8201595"/>
            <a:ext cx="6283845" cy="1436838"/>
            <a:chOff x="0" y="0"/>
            <a:chExt cx="1655004" cy="3784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55004" cy="378427"/>
            </a:xfrm>
            <a:custGeom>
              <a:avLst/>
              <a:gdLst/>
              <a:ahLst/>
              <a:cxnLst/>
              <a:rect l="l" t="t" r="r" b="b"/>
              <a:pathLst>
                <a:path w="1655004" h="378427">
                  <a:moveTo>
                    <a:pt x="62834" y="0"/>
                  </a:moveTo>
                  <a:lnTo>
                    <a:pt x="1592171" y="0"/>
                  </a:lnTo>
                  <a:cubicBezTo>
                    <a:pt x="1608835" y="0"/>
                    <a:pt x="1624817" y="6620"/>
                    <a:pt x="1636601" y="18404"/>
                  </a:cubicBezTo>
                  <a:cubicBezTo>
                    <a:pt x="1648384" y="30187"/>
                    <a:pt x="1655004" y="46169"/>
                    <a:pt x="1655004" y="62834"/>
                  </a:cubicBezTo>
                  <a:lnTo>
                    <a:pt x="1655004" y="315593"/>
                  </a:lnTo>
                  <a:cubicBezTo>
                    <a:pt x="1655004" y="350295"/>
                    <a:pt x="1626873" y="378427"/>
                    <a:pt x="1592171" y="378427"/>
                  </a:cubicBezTo>
                  <a:lnTo>
                    <a:pt x="62834" y="378427"/>
                  </a:lnTo>
                  <a:cubicBezTo>
                    <a:pt x="46169" y="378427"/>
                    <a:pt x="30187" y="371807"/>
                    <a:pt x="18404" y="360023"/>
                  </a:cubicBezTo>
                  <a:cubicBezTo>
                    <a:pt x="6620" y="348239"/>
                    <a:pt x="0" y="332257"/>
                    <a:pt x="0" y="315593"/>
                  </a:cubicBezTo>
                  <a:lnTo>
                    <a:pt x="0" y="62834"/>
                  </a:lnTo>
                  <a:cubicBezTo>
                    <a:pt x="0" y="28132"/>
                    <a:pt x="28132" y="0"/>
                    <a:pt x="62834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655004" cy="4355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374177" y="1028700"/>
            <a:ext cx="5486400" cy="8229600"/>
            <a:chOff x="0" y="0"/>
            <a:chExt cx="6350000" cy="9525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9525000"/>
            </a:xfrm>
            <a:custGeom>
              <a:avLst/>
              <a:gdLst/>
              <a:ahLst/>
              <a:cxnLst/>
              <a:rect l="l" t="t" r="r" b="b"/>
              <a:pathLst>
                <a:path w="6350000" h="9525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2"/>
              <a:stretch>
                <a:fillRect t="-31" b="-3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598828"/>
            <a:ext cx="3636096" cy="429872"/>
          </a:xfrm>
          <a:custGeom>
            <a:avLst/>
            <a:gdLst/>
            <a:ahLst/>
            <a:cxnLst/>
            <a:rect l="l" t="t" r="r" b="b"/>
            <a:pathLst>
              <a:path w="3636096" h="429872">
                <a:moveTo>
                  <a:pt x="0" y="0"/>
                </a:moveTo>
                <a:lnTo>
                  <a:pt x="3636096" y="0"/>
                </a:lnTo>
                <a:lnTo>
                  <a:pt x="3636096" y="429872"/>
                </a:lnTo>
                <a:lnTo>
                  <a:pt x="0" y="4298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28700" y="1028700"/>
            <a:ext cx="6471792" cy="1294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44"/>
              </a:lnSpc>
            </a:pPr>
            <a:r>
              <a:rPr lang="en-US" sz="9131" b="1" dirty="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Next Steps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8929539"/>
            <a:ext cx="9362497" cy="574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9"/>
              </a:lnSpc>
            </a:pPr>
            <a:r>
              <a:rPr lang="en-US" sz="1999" i="1">
                <a:solidFill>
                  <a:srgbClr val="FFFFFF"/>
                </a:solidFill>
                <a:latin typeface="Source Sans Pro Italics"/>
                <a:ea typeface="Source Sans Pro Italics"/>
                <a:cs typeface="Source Sans Pro Italics"/>
                <a:sym typeface="Source Sans Pro Italics"/>
              </a:rPr>
              <a:t>Final Note: This slide will be used as a discussion starting point for internal alignment and interview planning.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2538" y="3746752"/>
            <a:ext cx="10049849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8"/>
              </a:lnSpc>
            </a:pPr>
            <a:r>
              <a:rPr lang="en-US" sz="3906" b="1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Recommendations for Further Exploration: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5800" y="5397248"/>
            <a:ext cx="9529257" cy="2824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3" lvl="1" indent="-269871" algn="l">
              <a:lnSpc>
                <a:spcPts val="4524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Validate performance trends through stakeholder interviews (e.g., claims, pricing, operations).</a:t>
            </a:r>
          </a:p>
          <a:p>
            <a:pPr marL="539743" lvl="1" indent="-269871" algn="l">
              <a:lnSpc>
                <a:spcPts val="4524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Investigate specific product lines with persistent ration increases.</a:t>
            </a:r>
          </a:p>
          <a:p>
            <a:pPr marL="539743" lvl="1" indent="-269871" algn="l">
              <a:lnSpc>
                <a:spcPts val="4524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Compare findings against bench industry benchmarks (if available).</a:t>
            </a:r>
          </a:p>
          <a:p>
            <a:pPr marL="539743" lvl="1" indent="-269871" algn="l">
              <a:lnSpc>
                <a:spcPts val="4524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Ponder on possible coping strategies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</TotalTime>
  <Words>331</Words>
  <Application>Microsoft Macintosh PowerPoint</Application>
  <PresentationFormat>自定义</PresentationFormat>
  <Paragraphs>43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Open Sans Bold</vt:lpstr>
      <vt:lpstr>Poppins</vt:lpstr>
      <vt:lpstr>Arial</vt:lpstr>
      <vt:lpstr>Source Sans Pro Italics</vt:lpstr>
      <vt:lpstr>Montserrat Semi-Bold</vt:lpstr>
      <vt:lpstr>Montserrat Bold</vt:lpstr>
      <vt:lpstr>Source Sans Pro</vt:lpstr>
      <vt:lpstr>Montserrat Medium</vt:lpstr>
      <vt:lpstr>Open Sans</vt:lpstr>
      <vt:lpstr>Source Sans Pro Bold</vt:lpstr>
      <vt:lpstr>等线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Initial Investigation PPT Template</dc:title>
  <cp:lastModifiedBy>Yutong WANG (20809509)</cp:lastModifiedBy>
  <cp:revision>6</cp:revision>
  <dcterms:created xsi:type="dcterms:W3CDTF">2006-08-16T00:00:00Z</dcterms:created>
  <dcterms:modified xsi:type="dcterms:W3CDTF">2026-08-18T09:35:16Z</dcterms:modified>
  <dc:identifier>DAGqRevC1us</dc:identifier>
</cp:coreProperties>
</file>