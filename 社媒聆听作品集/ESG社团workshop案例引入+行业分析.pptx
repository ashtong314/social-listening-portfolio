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7" r:id="rId2"/>
    <p:sldId id="278" r:id="rId3"/>
    <p:sldId id="280" r:id="rId4"/>
    <p:sldId id="28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2C1E9E-CC55-B4FD-0B64-D549B12E5335}" name="语 李" initials="语李" userId="4cd32fbc7a287b1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984" autoAdjust="0"/>
    <p:restoredTop sz="94638"/>
  </p:normalViewPr>
  <p:slideViewPr>
    <p:cSldViewPr snapToGrid="0">
      <p:cViewPr varScale="1">
        <p:scale>
          <a:sx n="106" d="100"/>
          <a:sy n="106" d="100"/>
        </p:scale>
        <p:origin x="21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709ACA-3570-470F-893D-516534C691A5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C1769E-89D4-4FED-8537-7A7EB89BB6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053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5825EB-65B4-B8C2-265B-4B65E97FC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E3C6695-5283-6999-2407-C4E2E7D2A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3BE28F-4F3B-F7A7-E0B4-F88471CB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9F0B7-E2F8-4E1D-A389-DBDF22B5594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41F381-7F79-39B5-60D3-DEECA2029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557F93-3622-874C-0611-968A36A42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963D-2378-4DB1-9492-1DCBC3329C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308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788CFA-7385-5013-2365-9A9B42FAA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D260CB-6CA1-2593-19FA-365F86A5B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6914E1-98BD-829A-E5D0-A48F69ED7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9F0B7-E2F8-4E1D-A389-DBDF22B5594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0962A5-F27A-A4AC-79A0-21F19120A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8947FC-DED8-F51E-4521-EEA48E02D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963D-2378-4DB1-9492-1DCBC3329C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506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F3650B-7915-9339-905F-0F5A03C98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39F64B-795C-A560-1F43-3A2FBECDE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126A0E-61B5-743D-4A5D-4BE7861B5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9F0B7-E2F8-4E1D-A389-DBDF22B5594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F8B636-E6D1-210E-3A19-B09CF81C6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1A351D-4250-7D76-1E36-9CB05CB91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963D-2378-4DB1-9492-1DCBC3329C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746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E140C3-D919-52B2-CC85-B62612085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75F4CD-0CD5-A201-76AB-B3501941BE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6D231B-BD0E-BB2A-7A60-5D9377838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F53923-C760-6159-B580-85740A2D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9F0B7-E2F8-4E1D-A389-DBDF22B5594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F4873A-5BB9-91F1-30F3-4CBB2118C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68D902-B99A-A1CF-E183-598C49DC9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963D-2378-4DB1-9492-1DCBC3329C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519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DCB8-9EBA-1B05-D828-B6A7FAEC5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3B385B-AACF-7904-262E-C893C18E4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C6715E-AD58-7D9C-1961-73C5914C7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4CBE6FC-0003-A81B-AAC7-7A5905C1D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D79CFF8-0382-15B9-6911-3223623CC4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D383E72-99D4-8948-97BF-1DAEBD329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9F0B7-E2F8-4E1D-A389-DBDF22B5594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0C0952F-FC86-E554-39C0-1826193E5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ECD12DA-9AE6-C5CA-09E3-72FA988DF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963D-2378-4DB1-9492-1DCBC3329C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6409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259081-8438-89B8-E1B1-11C00E4FA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29AC7F7-94B2-78CD-E562-D258F9544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9F0B7-E2F8-4E1D-A389-DBDF22B5594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2E4558-9128-6076-604F-86ADAEB7F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98CD249-6E4E-194E-2713-1401531EF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963D-2378-4DB1-9492-1DCBC3329C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990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485CB5-54FF-4433-024E-0331CD261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9F0B7-E2F8-4E1D-A389-DBDF22B5594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2ECB45C-5D70-AFD7-4EAC-06E97EC48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77CC79-5C06-56A7-8611-4AC7491B5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963D-2378-4DB1-9492-1DCBC3329C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603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909C4A-60F9-B55B-1487-9F35AED44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2152E1-E25D-0A08-CE7A-8E3677C58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1D3697-8EDA-00EA-37E1-EF0193EE85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84113D-2292-D84B-5B7C-6EBF0BE86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9F0B7-E2F8-4E1D-A389-DBDF22B5594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A0209E-43C6-A0E7-929C-55556656C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D66797-4ED3-83CE-DF25-E04BAE451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963D-2378-4DB1-9492-1DCBC3329C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586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4923D-F6B3-B03B-3442-F453BB4D9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0D2A926-6831-D707-18DE-322C5566B0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7454A3-CBB9-CFCE-A641-389BC1325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153087-E4DE-D9C1-F977-3104EAE3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9F0B7-E2F8-4E1D-A389-DBDF22B5594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6FA85E-B836-4F7A-F408-F03DD787F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A9EFA8-656D-1CF8-506D-AC13703D3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963D-2378-4DB1-9492-1DCBC3329C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5997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784F04-488E-B568-E5AD-7F8D8E80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553583E-B031-0F79-2113-42488A88B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16A927-8928-4260-9D29-17845E9BE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9F0B7-E2F8-4E1D-A389-DBDF22B5594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7FB2C3-C5FF-D8BD-FB27-38E85FFD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2E7185-0AD9-6CB9-27C2-F35BA257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963D-2378-4DB1-9492-1DCBC3329C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508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57055D-6536-A448-4BFF-324D9B95E1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E0A1EC-EB84-A0F8-CFF7-A616E609B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841FFB-BDFB-1CCC-3E94-9C64D28B6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9F0B7-E2F8-4E1D-A389-DBDF22B5594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7387E5-8FBA-AE83-F4D8-B5A674291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182BDB-6B5F-4626-41BD-E1FE3038C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963D-2378-4DB1-9492-1DCBC3329C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5504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3F82D82-0011-058A-D601-C68524195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8AEE64-1864-3E9F-051F-665CB15CA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DE07B9-B67D-230D-3F08-FBC25E6818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D9F0B7-E2F8-4E1D-A389-DBDF22B5594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FC72F3-8C21-A88D-B387-54A7A0769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BCD24A-B161-181F-9FA3-0C98D7EA28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EC963D-2378-4DB1-9492-1DCBC3329C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7004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745AE-66C0-12C5-E10C-AF0C629A0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B57C8AE-0721-CB09-20D5-245CCF3B9814}"/>
              </a:ext>
            </a:extLst>
          </p:cNvPr>
          <p:cNvCxnSpPr>
            <a:cxnSpLocks/>
          </p:cNvCxnSpPr>
          <p:nvPr/>
        </p:nvCxnSpPr>
        <p:spPr>
          <a:xfrm>
            <a:off x="640080" y="813816"/>
            <a:ext cx="11091672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82E1D59B-08DA-06DB-9302-8B878CA18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0823" y="103726"/>
            <a:ext cx="1281777" cy="49617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C5553B5-5203-FD4A-7366-C1E1203C11C2}"/>
              </a:ext>
            </a:extLst>
          </p:cNvPr>
          <p:cNvSpPr/>
          <p:nvPr/>
        </p:nvSpPr>
        <p:spPr>
          <a:xfrm>
            <a:off x="640080" y="192024"/>
            <a:ext cx="3968496" cy="496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CBA4D1C-651D-4B43-ACD9-1008137C1C1B}"/>
              </a:ext>
            </a:extLst>
          </p:cNvPr>
          <p:cNvSpPr txBox="1"/>
          <p:nvPr/>
        </p:nvSpPr>
        <p:spPr>
          <a:xfrm>
            <a:off x="3505200" y="2644170"/>
            <a:ext cx="5181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9600" dirty="0"/>
              <a:t>实际案例</a:t>
            </a:r>
          </a:p>
        </p:txBody>
      </p:sp>
    </p:spTree>
    <p:extLst>
      <p:ext uri="{BB962C8B-B14F-4D97-AF65-F5344CB8AC3E}">
        <p14:creationId xmlns:p14="http://schemas.microsoft.com/office/powerpoint/2010/main" val="3979093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3FF15-C56A-67A9-C8A6-8E4A57987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575492E-94B9-7458-AD4E-9F9885E59B5A}"/>
              </a:ext>
            </a:extLst>
          </p:cNvPr>
          <p:cNvCxnSpPr>
            <a:cxnSpLocks/>
          </p:cNvCxnSpPr>
          <p:nvPr/>
        </p:nvCxnSpPr>
        <p:spPr>
          <a:xfrm>
            <a:off x="640080" y="813816"/>
            <a:ext cx="11091672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624D6C84-9574-CB76-72D4-A3383B68E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0823" y="103726"/>
            <a:ext cx="1281777" cy="49617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3C2D434-E50C-2DC2-5B58-E5C8E6DC6343}"/>
              </a:ext>
            </a:extLst>
          </p:cNvPr>
          <p:cNvSpPr/>
          <p:nvPr/>
        </p:nvSpPr>
        <p:spPr>
          <a:xfrm>
            <a:off x="640079" y="192024"/>
            <a:ext cx="5289665" cy="496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tx1"/>
                </a:solidFill>
              </a:rPr>
              <a:t>情景引入：</a:t>
            </a:r>
            <a:r>
              <a:rPr lang="en-US" altLang="zh-CN" sz="2800" b="1" dirty="0">
                <a:solidFill>
                  <a:schemeClr val="tx1"/>
                </a:solidFill>
              </a:rPr>
              <a:t>SWOT</a:t>
            </a:r>
            <a:r>
              <a:rPr lang="zh-CN" altLang="en-US" sz="2800" b="1" dirty="0">
                <a:solidFill>
                  <a:schemeClr val="tx1"/>
                </a:solidFill>
              </a:rPr>
              <a:t> 模型分析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E2633D-B538-726B-FDD2-E3609429A022}"/>
              </a:ext>
            </a:extLst>
          </p:cNvPr>
          <p:cNvSpPr txBox="1"/>
          <p:nvPr/>
        </p:nvSpPr>
        <p:spPr>
          <a:xfrm>
            <a:off x="640079" y="1129617"/>
            <a:ext cx="10771631" cy="1348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CoffeeCO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是一家全球咖啡企业，目前在中国市场面临同店销售额下滑的困境，主要源于市场饱和及激烈的竞争环境。除竞争压力外，该公司在客户数据采集与分析以实现精准营销方面亦遭遇诸多挑战。为此，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CoffeeCo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已聘请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DigitalBCG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团队进行数字化转型，旨在优化客户数字化体验路径，并探索如何通过技术创新提升客户参与度及同店销售业绩。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8AB6D31-7000-3CEA-F624-C1C117C97451}"/>
              </a:ext>
            </a:extLst>
          </p:cNvPr>
          <p:cNvSpPr txBox="1"/>
          <p:nvPr/>
        </p:nvSpPr>
        <p:spPr>
          <a:xfrm>
            <a:off x="640079" y="3285689"/>
            <a:ext cx="1131301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S</a:t>
            </a:r>
            <a:r>
              <a:rPr kumimoji="1" lang="en-US" altLang="zh-CN" dirty="0"/>
              <a:t>trengths (</a:t>
            </a:r>
            <a:r>
              <a:rPr kumimoji="1" lang="zh-CN" altLang="en-US" dirty="0"/>
              <a:t>优势</a:t>
            </a:r>
            <a:r>
              <a:rPr kumimoji="1" lang="en-US" altLang="zh-CN" dirty="0"/>
              <a:t>): </a:t>
            </a:r>
            <a:r>
              <a:rPr kumimoji="1" lang="zh-CN" altLang="en-US" dirty="0"/>
              <a:t>你的组织或项目</a:t>
            </a:r>
            <a:r>
              <a:rPr kumimoji="1" lang="zh-CN" altLang="en-US" b="1" dirty="0"/>
              <a:t>内部</a:t>
            </a:r>
            <a:r>
              <a:rPr kumimoji="1" lang="zh-CN" altLang="en-US" dirty="0"/>
              <a:t>拥有的、比竞争对手更出色的积极属性或资源</a:t>
            </a:r>
            <a:r>
              <a:rPr kumimoji="1" lang="en-US" altLang="zh-CN" dirty="0"/>
              <a:t>(</a:t>
            </a:r>
            <a:r>
              <a:rPr kumimoji="1" lang="zh-CN" altLang="en-US" dirty="0"/>
              <a:t>可利用的有利条件</a:t>
            </a:r>
            <a:r>
              <a:rPr kumimoji="1" lang="en-US" altLang="zh-CN" dirty="0"/>
              <a:t>)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b="1" dirty="0"/>
              <a:t>W</a:t>
            </a:r>
            <a:r>
              <a:rPr kumimoji="1" lang="en-US" altLang="zh-CN" dirty="0"/>
              <a:t>eaknesses (</a:t>
            </a:r>
            <a:r>
              <a:rPr kumimoji="1" lang="zh-CN" altLang="en-US" dirty="0"/>
              <a:t>劣势</a:t>
            </a:r>
            <a:r>
              <a:rPr kumimoji="1" lang="en-US" altLang="zh-CN" dirty="0"/>
              <a:t>): </a:t>
            </a:r>
            <a:r>
              <a:rPr kumimoji="1" lang="zh-CN" altLang="en-US" dirty="0"/>
              <a:t>你的组织或项目</a:t>
            </a:r>
            <a:r>
              <a:rPr kumimoji="1" lang="zh-CN" altLang="en-US" b="1" dirty="0"/>
              <a:t>内部</a:t>
            </a:r>
            <a:r>
              <a:rPr kumimoji="1" lang="zh-CN" altLang="en-US" dirty="0"/>
              <a:t>存在的、需要改进的消极属性或短板</a:t>
            </a:r>
            <a:r>
              <a:rPr kumimoji="1" lang="en-US" altLang="zh-CN" dirty="0"/>
              <a:t>(</a:t>
            </a:r>
            <a:r>
              <a:rPr kumimoji="1" lang="zh-CN" altLang="en-US" dirty="0"/>
              <a:t>必须诚实面对的问题</a:t>
            </a:r>
            <a:r>
              <a:rPr kumimoji="1" lang="en-US" altLang="zh-CN" dirty="0"/>
              <a:t>)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b="1" dirty="0"/>
              <a:t>O</a:t>
            </a:r>
            <a:r>
              <a:rPr kumimoji="1" lang="en-US" altLang="zh-CN" dirty="0"/>
              <a:t>pportunities (</a:t>
            </a:r>
            <a:r>
              <a:rPr kumimoji="1" lang="zh-CN" altLang="en-US" dirty="0"/>
              <a:t>机会</a:t>
            </a:r>
            <a:r>
              <a:rPr kumimoji="1" lang="en-US" altLang="zh-CN" dirty="0"/>
              <a:t>): </a:t>
            </a:r>
            <a:r>
              <a:rPr kumimoji="1" lang="zh-CN" altLang="en-US" b="1" dirty="0"/>
              <a:t>外部</a:t>
            </a:r>
            <a:r>
              <a:rPr kumimoji="1" lang="zh-CN" altLang="en-US" dirty="0"/>
              <a:t>环境中存在的、对你的组织或项目有利的积极因素</a:t>
            </a:r>
            <a:r>
              <a:rPr kumimoji="1" lang="en-US" altLang="zh-CN" dirty="0"/>
              <a:t>(</a:t>
            </a:r>
            <a:r>
              <a:rPr kumimoji="1" lang="zh-CN" altLang="en-US" dirty="0"/>
              <a:t>无法控制但可尝试抓住的机遇</a:t>
            </a:r>
            <a:r>
              <a:rPr kumimoji="1" lang="en-US" altLang="zh-CN" dirty="0"/>
              <a:t>)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b="1" dirty="0"/>
              <a:t>T</a:t>
            </a:r>
            <a:r>
              <a:rPr kumimoji="1" lang="en-US" altLang="zh-CN" dirty="0"/>
              <a:t>hreats (</a:t>
            </a:r>
            <a:r>
              <a:rPr kumimoji="1" lang="zh-CN" altLang="en-US" dirty="0"/>
              <a:t>威胁</a:t>
            </a:r>
            <a:r>
              <a:rPr kumimoji="1" lang="en-US" altLang="zh-CN" dirty="0"/>
              <a:t>): </a:t>
            </a:r>
            <a:r>
              <a:rPr kumimoji="1" lang="zh-CN" altLang="en-US" b="1" dirty="0"/>
              <a:t>外部</a:t>
            </a:r>
            <a:r>
              <a:rPr kumimoji="1" lang="zh-CN" altLang="en-US" dirty="0"/>
              <a:t>环境中存在的、可能对你的组织或项目造成危害的消极因素</a:t>
            </a:r>
            <a:r>
              <a:rPr kumimoji="1" lang="en-US" altLang="zh-CN" dirty="0"/>
              <a:t>(</a:t>
            </a:r>
            <a:r>
              <a:rPr kumimoji="1" lang="zh-CN" altLang="en-US" dirty="0"/>
              <a:t>无法控制但需要提前防范的风险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9A73983-74A4-70E8-993F-5A9BAAE3D23C}"/>
              </a:ext>
            </a:extLst>
          </p:cNvPr>
          <p:cNvSpPr txBox="1"/>
          <p:nvPr/>
        </p:nvSpPr>
        <p:spPr>
          <a:xfrm>
            <a:off x="640079" y="2603751"/>
            <a:ext cx="9361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/>
              <a:t>SWOT</a:t>
            </a:r>
            <a:r>
              <a:rPr kumimoji="1" lang="zh-CN" altLang="en-US" sz="2400" b="1" dirty="0"/>
              <a:t>：用于评估企业或项目内部优势、劣势及外部机会威胁的工具</a:t>
            </a:r>
          </a:p>
        </p:txBody>
      </p:sp>
    </p:spTree>
    <p:extLst>
      <p:ext uri="{BB962C8B-B14F-4D97-AF65-F5344CB8AC3E}">
        <p14:creationId xmlns:p14="http://schemas.microsoft.com/office/powerpoint/2010/main" val="3672593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6E9E5-C72A-9ED9-3037-A5033796C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9CA1481-E06B-3D55-8008-37D61F79D2C8}"/>
              </a:ext>
            </a:extLst>
          </p:cNvPr>
          <p:cNvCxnSpPr>
            <a:cxnSpLocks/>
          </p:cNvCxnSpPr>
          <p:nvPr/>
        </p:nvCxnSpPr>
        <p:spPr>
          <a:xfrm>
            <a:off x="640080" y="813816"/>
            <a:ext cx="11091672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6A5AF8B5-646E-71F5-E9C2-B3B0EF4C5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0823" y="103726"/>
            <a:ext cx="1281777" cy="49617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6B26B27-1D7A-4876-4EE8-D1DFF241E533}"/>
              </a:ext>
            </a:extLst>
          </p:cNvPr>
          <p:cNvSpPr/>
          <p:nvPr/>
        </p:nvSpPr>
        <p:spPr>
          <a:xfrm>
            <a:off x="640079" y="192024"/>
            <a:ext cx="5289665" cy="496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tx1"/>
                </a:solidFill>
              </a:rPr>
              <a:t>情景引入：</a:t>
            </a:r>
            <a:r>
              <a:rPr lang="en-US" altLang="zh-CN" sz="2800" b="1" dirty="0">
                <a:solidFill>
                  <a:schemeClr val="tx1"/>
                </a:solidFill>
              </a:rPr>
              <a:t>SWOT</a:t>
            </a:r>
            <a:r>
              <a:rPr lang="zh-CN" altLang="en-US" sz="2800" b="1" dirty="0">
                <a:solidFill>
                  <a:schemeClr val="tx1"/>
                </a:solidFill>
              </a:rPr>
              <a:t> 模型分析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1FA094-9BAF-F0FF-2D63-68DAECA97BCD}"/>
              </a:ext>
            </a:extLst>
          </p:cNvPr>
          <p:cNvSpPr txBox="1"/>
          <p:nvPr/>
        </p:nvSpPr>
        <p:spPr>
          <a:xfrm>
            <a:off x="640079" y="939439"/>
            <a:ext cx="10771631" cy="1348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CoffeeCO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是一家</a:t>
            </a:r>
            <a:r>
              <a:rPr lang="zh-CN" altLang="zh-CN" sz="1800" kern="100" dirty="0">
                <a:solidFill>
                  <a:srgbClr val="00B05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全球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咖啡企业，目前在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中国市场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面临同店</a:t>
            </a:r>
            <a:r>
              <a:rPr lang="zh-CN" altLang="zh-CN" sz="1800" kern="100" dirty="0">
                <a:solidFill>
                  <a:srgbClr val="0070C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销售额下滑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的困境，主要源于</a:t>
            </a:r>
            <a:r>
              <a:rPr lang="zh-CN" altLang="zh-CN" sz="1800" kern="100" dirty="0">
                <a:effectLst/>
                <a:highlight>
                  <a:srgbClr val="FFFF00"/>
                </a:highlight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市场饱和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及</a:t>
            </a:r>
            <a:r>
              <a:rPr lang="zh-CN" altLang="zh-CN" sz="1800" kern="100" dirty="0">
                <a:effectLst/>
                <a:highlight>
                  <a:srgbClr val="FFFF00"/>
                </a:highlight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激烈的竞争环境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。除竞争压力外，该公司在</a:t>
            </a:r>
            <a:r>
              <a:rPr lang="zh-CN" altLang="zh-CN" sz="1800" kern="100" dirty="0">
                <a:solidFill>
                  <a:srgbClr val="0070C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客户数据采集与分析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zh-CN" altLang="zh-CN" sz="1800" kern="100" dirty="0">
                <a:solidFill>
                  <a:srgbClr val="0070C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实现精准营销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方面亦遭遇诸多挑战。为此，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CoffeeCo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已聘请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DigitalBCG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团队进行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数字化转型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，旨在优化客户数字化体验路径，并探索如何通过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技术创新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提升客户参与度及同店销售业绩。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DF407BB-36E9-F87C-15CF-AB27152096F9}"/>
              </a:ext>
            </a:extLst>
          </p:cNvPr>
          <p:cNvSpPr txBox="1"/>
          <p:nvPr/>
        </p:nvSpPr>
        <p:spPr>
          <a:xfrm>
            <a:off x="640079" y="2435198"/>
            <a:ext cx="515112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rgbClr val="00B050"/>
                </a:solidFill>
              </a:rPr>
              <a:t>S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</a:t>
            </a:r>
            <a:r>
              <a:rPr kumimoji="1" lang="en-US" altLang="zh-CN" sz="1600" dirty="0">
                <a:solidFill>
                  <a:srgbClr val="00B050"/>
                </a:solidFill>
              </a:rPr>
              <a:t>1. </a:t>
            </a:r>
            <a:r>
              <a:rPr kumimoji="1" lang="zh-CN" altLang="en-US" sz="1600" dirty="0">
                <a:solidFill>
                  <a:srgbClr val="00B050"/>
                </a:solidFill>
              </a:rPr>
              <a:t>强大的全球品牌影响力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坚实的品牌基础和国际化的形象</a:t>
            </a:r>
          </a:p>
          <a:p>
            <a:r>
              <a:rPr kumimoji="1" lang="zh-CN" altLang="en-US" sz="1600" dirty="0">
                <a:solidFill>
                  <a:srgbClr val="00B050"/>
                </a:solidFill>
              </a:rPr>
              <a:t>    </a:t>
            </a:r>
            <a:r>
              <a:rPr kumimoji="1" lang="en-US" altLang="zh-CN" sz="1600" dirty="0">
                <a:solidFill>
                  <a:srgbClr val="00B050"/>
                </a:solidFill>
              </a:rPr>
              <a:t>2. </a:t>
            </a:r>
            <a:r>
              <a:rPr kumimoji="1" lang="zh-CN" altLang="en-US" sz="1600" dirty="0">
                <a:solidFill>
                  <a:srgbClr val="00B050"/>
                </a:solidFill>
              </a:rPr>
              <a:t>雄厚的财务实力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拥有足够的资金支持其进行数字化转型的投入</a:t>
            </a:r>
          </a:p>
          <a:p>
            <a:r>
              <a:rPr kumimoji="1" lang="zh-CN" altLang="en-US" sz="1600" dirty="0">
                <a:solidFill>
                  <a:srgbClr val="00B050"/>
                </a:solidFill>
              </a:rPr>
              <a:t>    </a:t>
            </a:r>
            <a:r>
              <a:rPr kumimoji="1" lang="en-US" altLang="zh-CN" sz="1600" dirty="0">
                <a:solidFill>
                  <a:srgbClr val="00B050"/>
                </a:solidFill>
              </a:rPr>
              <a:t>3. </a:t>
            </a:r>
            <a:r>
              <a:rPr kumimoji="1" lang="zh-CN" altLang="en-US" sz="1600" dirty="0">
                <a:solidFill>
                  <a:srgbClr val="00B050"/>
                </a:solidFill>
              </a:rPr>
              <a:t>广泛的实体门店网络</a:t>
            </a:r>
            <a:r>
              <a:rPr kumimoji="1" lang="en-US" altLang="zh-CN" sz="1600" dirty="0">
                <a:solidFill>
                  <a:srgbClr val="00B050"/>
                </a:solidFill>
              </a:rPr>
              <a:t>:</a:t>
            </a:r>
            <a:r>
              <a:rPr kumimoji="1" lang="zh-CN" altLang="en-US" sz="1600" dirty="0"/>
              <a:t>已有的门店是重要的线下流量入口和客户体验中心，为线上线下融合</a:t>
            </a:r>
            <a:r>
              <a:rPr kumimoji="1" lang="en-US" altLang="zh-CN" sz="1600" dirty="0"/>
              <a:t> (OMO) </a:t>
            </a:r>
            <a:r>
              <a:rPr kumimoji="1" lang="zh-CN" altLang="en-US" sz="1600" dirty="0"/>
              <a:t>提供了物理基础。</a:t>
            </a:r>
            <a:endParaRPr kumimoji="1" lang="en-US" altLang="zh-CN" sz="1600" dirty="0"/>
          </a:p>
          <a:p>
            <a:endParaRPr kumimoji="1" lang="en-US" altLang="zh-CN" sz="1600" b="1" dirty="0">
              <a:solidFill>
                <a:srgbClr val="0070C0"/>
              </a:solidFill>
            </a:endParaRPr>
          </a:p>
          <a:p>
            <a:endParaRPr kumimoji="1" lang="en-US" altLang="zh-CN" sz="1600" b="1" dirty="0">
              <a:solidFill>
                <a:srgbClr val="0070C0"/>
              </a:solidFill>
            </a:endParaRP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CBE194-693E-F23F-C372-B0CD83FB1602}"/>
              </a:ext>
            </a:extLst>
          </p:cNvPr>
          <p:cNvSpPr txBox="1"/>
          <p:nvPr/>
        </p:nvSpPr>
        <p:spPr>
          <a:xfrm>
            <a:off x="6096000" y="2435198"/>
            <a:ext cx="5956600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rgbClr val="FF0000"/>
                </a:solidFill>
              </a:rPr>
              <a:t>O</a:t>
            </a:r>
            <a:r>
              <a:rPr kumimoji="1" lang="en-US" altLang="zh-CN" sz="1600" dirty="0"/>
              <a:t>:</a:t>
            </a:r>
            <a:r>
              <a:rPr kumimoji="1" lang="en-US" altLang="zh-CN" sz="1600" dirty="0">
                <a:solidFill>
                  <a:srgbClr val="FF0000"/>
                </a:solidFill>
              </a:rPr>
              <a:t> 1. </a:t>
            </a:r>
            <a:r>
              <a:rPr kumimoji="1" lang="zh-CN" altLang="en-US" sz="1600" dirty="0">
                <a:solidFill>
                  <a:srgbClr val="FF0000"/>
                </a:solidFill>
              </a:rPr>
              <a:t>数字化转型的巨大潜力</a:t>
            </a:r>
            <a:r>
              <a:rPr kumimoji="1" lang="en-US" altLang="zh-CN" sz="1600" dirty="0"/>
              <a:t>: </a:t>
            </a:r>
            <a:r>
              <a:rPr kumimoji="1" lang="zh-CN" altLang="en-US" sz="1600" dirty="0"/>
              <a:t>通过成功的数字化转型</a:t>
            </a:r>
            <a:r>
              <a:rPr kumimoji="1" lang="en-US" altLang="zh-CN" sz="1600" dirty="0"/>
              <a:t>, </a:t>
            </a:r>
            <a:r>
              <a:rPr kumimoji="1" lang="zh-CN" altLang="en-US" sz="1600" dirty="0"/>
              <a:t>可以重塑客户体验</a:t>
            </a:r>
            <a:r>
              <a:rPr kumimoji="1" lang="en-US" altLang="zh-CN" sz="1600" dirty="0"/>
              <a:t>, </a:t>
            </a:r>
            <a:r>
              <a:rPr kumimoji="1" lang="zh-CN" altLang="en-US" sz="1600" dirty="0"/>
              <a:t>创造新的增长点。</a:t>
            </a:r>
            <a:r>
              <a:rPr kumimoji="1" lang="en-US" altLang="zh-CN" sz="1600" dirty="0">
                <a:solidFill>
                  <a:srgbClr val="FF0000"/>
                </a:solidFill>
              </a:rPr>
              <a:t>   </a:t>
            </a:r>
          </a:p>
          <a:p>
            <a:r>
              <a:rPr kumimoji="1" lang="en-US" altLang="zh-CN" sz="1600" dirty="0">
                <a:solidFill>
                  <a:srgbClr val="FF0000"/>
                </a:solidFill>
              </a:rPr>
              <a:t>    2. </a:t>
            </a:r>
            <a:r>
              <a:rPr kumimoji="1" lang="zh-CN" altLang="en-US" sz="1600" dirty="0">
                <a:solidFill>
                  <a:srgbClr val="FF0000"/>
                </a:solidFill>
              </a:rPr>
              <a:t>技术创新应用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可以利用人工智能、大数据、移动支付等技术</a:t>
            </a:r>
            <a:r>
              <a:rPr kumimoji="1" lang="en-US" altLang="zh-CN" sz="1600" dirty="0"/>
              <a:t>, </a:t>
            </a:r>
            <a:r>
              <a:rPr kumimoji="1" lang="zh-CN" altLang="en-US" sz="1600" dirty="0"/>
              <a:t>优化点单流程、推荐个性化产品、开展创新的营销活动</a:t>
            </a:r>
            <a:r>
              <a:rPr kumimoji="1" lang="en-US" altLang="zh-CN" sz="1600" dirty="0"/>
              <a:t>, </a:t>
            </a:r>
            <a:r>
              <a:rPr kumimoji="1" lang="zh-CN" altLang="en-US" sz="1600" dirty="0"/>
              <a:t>提升运营效率和客户参与度。</a:t>
            </a:r>
          </a:p>
          <a:p>
            <a:r>
              <a:rPr kumimoji="1" lang="en-US" altLang="zh-CN" sz="1600" dirty="0">
                <a:solidFill>
                  <a:srgbClr val="FF0000"/>
                </a:solidFill>
              </a:rPr>
              <a:t>    3. </a:t>
            </a:r>
            <a:r>
              <a:rPr kumimoji="1" lang="zh-CN" altLang="en-US" sz="1600" dirty="0">
                <a:solidFill>
                  <a:srgbClr val="FF0000"/>
                </a:solidFill>
              </a:rPr>
              <a:t>本土化创新</a:t>
            </a:r>
            <a:r>
              <a:rPr kumimoji="1" lang="en-US" altLang="zh-CN" sz="1600" dirty="0"/>
              <a:t>:</a:t>
            </a:r>
            <a:r>
              <a:rPr kumimoji="1" lang="en-US" altLang="zh-CN" sz="1600" dirty="0">
                <a:solidFill>
                  <a:srgbClr val="FF0000"/>
                </a:solidFill>
              </a:rPr>
              <a:t> </a:t>
            </a:r>
            <a:r>
              <a:rPr kumimoji="1" lang="zh-CN" altLang="en-US" sz="1600" dirty="0"/>
              <a:t>利用数字化工具深入了解中国消费者口味偏好</a:t>
            </a:r>
            <a:r>
              <a:rPr kumimoji="1" lang="en-US" altLang="zh-CN" sz="1600" dirty="0"/>
              <a:t>, </a:t>
            </a:r>
            <a:r>
              <a:rPr kumimoji="1" lang="zh-CN" altLang="en-US" sz="1600" dirty="0"/>
              <a:t>推出更具本土特色的产品和新消费场景</a:t>
            </a:r>
            <a:r>
              <a:rPr kumimoji="1" lang="en-US" altLang="zh-CN" sz="1600" dirty="0"/>
              <a:t>, </a:t>
            </a:r>
            <a:r>
              <a:rPr kumimoji="1" lang="zh-CN" altLang="en-US" sz="1600" dirty="0"/>
              <a:t>实现差异化竞争。</a:t>
            </a:r>
            <a:endParaRPr kumimoji="1" lang="en-US" altLang="zh-CN" sz="1600" dirty="0"/>
          </a:p>
          <a:p>
            <a:endParaRPr kumimoji="1" lang="en-US" altLang="zh-CN" sz="1600" b="1" dirty="0">
              <a:highlight>
                <a:srgbClr val="FFFF00"/>
              </a:highlight>
            </a:endParaRP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1D632EB-15D4-9605-F6BE-A6723AB0D73B}"/>
              </a:ext>
            </a:extLst>
          </p:cNvPr>
          <p:cNvSpPr txBox="1"/>
          <p:nvPr/>
        </p:nvSpPr>
        <p:spPr>
          <a:xfrm>
            <a:off x="640079" y="4374190"/>
            <a:ext cx="5151121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rgbClr val="0070C0"/>
                </a:solidFill>
              </a:rPr>
              <a:t>W</a:t>
            </a:r>
            <a:r>
              <a:rPr kumimoji="1" lang="en-US" altLang="zh-CN" sz="1600" dirty="0"/>
              <a:t>: </a:t>
            </a:r>
            <a:r>
              <a:rPr kumimoji="1" lang="en-US" altLang="zh-CN" sz="1600" dirty="0">
                <a:solidFill>
                  <a:srgbClr val="0070C0"/>
                </a:solidFill>
              </a:rPr>
              <a:t>1.</a:t>
            </a:r>
            <a:r>
              <a:rPr kumimoji="1" lang="en-US" altLang="zh-CN" sz="1600" dirty="0"/>
              <a:t> </a:t>
            </a:r>
            <a:r>
              <a:rPr kumimoji="1" lang="zh-CN" altLang="en-US" sz="1600" dirty="0">
                <a:solidFill>
                  <a:srgbClr val="0070C0"/>
                </a:solidFill>
              </a:rPr>
              <a:t>客户数据能力薄弱</a:t>
            </a:r>
            <a:r>
              <a:rPr kumimoji="1" lang="en-US" altLang="zh-CN" sz="1600" dirty="0"/>
              <a:t>: </a:t>
            </a:r>
            <a:r>
              <a:rPr kumimoji="1" lang="zh-CN" altLang="en-US" sz="1600" dirty="0"/>
              <a:t>无法有效采集和分析客户数据</a:t>
            </a:r>
            <a:r>
              <a:rPr kumimoji="1" lang="en-US" altLang="zh-CN" sz="1600" dirty="0"/>
              <a:t>, </a:t>
            </a:r>
            <a:r>
              <a:rPr kumimoji="1" lang="zh-CN" altLang="en-US" sz="1600" dirty="0"/>
              <a:t>导致对本地消费者偏好、消费习惯的理解不足</a:t>
            </a:r>
            <a:r>
              <a:rPr kumimoji="1" lang="en-US" altLang="zh-CN" sz="1600" dirty="0"/>
              <a:t>, </a:t>
            </a:r>
            <a:r>
              <a:rPr kumimoji="1" lang="zh-CN" altLang="en-US" sz="1600" dirty="0"/>
              <a:t>难以进行精准营销和个性化服务。</a:t>
            </a:r>
          </a:p>
          <a:p>
            <a:r>
              <a:rPr kumimoji="1" lang="en-US" altLang="zh-CN" sz="1600" dirty="0"/>
              <a:t>     </a:t>
            </a:r>
            <a:r>
              <a:rPr kumimoji="1" lang="en-US" altLang="zh-CN" sz="1600" dirty="0">
                <a:solidFill>
                  <a:srgbClr val="0070C0"/>
                </a:solidFill>
              </a:rPr>
              <a:t>2.</a:t>
            </a:r>
            <a:r>
              <a:rPr kumimoji="1" lang="en-US" altLang="zh-CN" sz="1600" dirty="0"/>
              <a:t> </a:t>
            </a:r>
            <a:r>
              <a:rPr kumimoji="1" lang="zh-CN" altLang="en-US" sz="1600" dirty="0">
                <a:solidFill>
                  <a:srgbClr val="0070C0"/>
                </a:solidFill>
              </a:rPr>
              <a:t>同店销售额下滑</a:t>
            </a:r>
            <a:r>
              <a:rPr kumimoji="1" lang="en-US" altLang="zh-CN" sz="1600" dirty="0"/>
              <a:t>: </a:t>
            </a:r>
            <a:r>
              <a:rPr kumimoji="1" lang="zh-CN" altLang="en-US" sz="1600" dirty="0"/>
              <a:t>这是核心问题</a:t>
            </a:r>
            <a:r>
              <a:rPr kumimoji="1" lang="en-US" altLang="zh-CN" sz="1600" dirty="0"/>
              <a:t>, </a:t>
            </a:r>
            <a:r>
              <a:rPr kumimoji="1" lang="zh-CN" altLang="en-US" sz="1600" dirty="0"/>
              <a:t>直接反映了现有商业模式在市场饱和与竞争下的乏力</a:t>
            </a:r>
            <a:r>
              <a:rPr kumimoji="1" lang="en-US" altLang="zh-CN" sz="1600" dirty="0"/>
              <a:t>, </a:t>
            </a:r>
            <a:r>
              <a:rPr kumimoji="1" lang="zh-CN" altLang="en-US" sz="1600" dirty="0"/>
              <a:t>客户黏性不足。</a:t>
            </a:r>
          </a:p>
          <a:p>
            <a:r>
              <a:rPr kumimoji="1" lang="en-US" altLang="zh-CN" sz="1600" dirty="0">
                <a:solidFill>
                  <a:srgbClr val="0070C0"/>
                </a:solidFill>
              </a:rPr>
              <a:t>     3. </a:t>
            </a:r>
            <a:r>
              <a:rPr kumimoji="1" lang="zh-CN" altLang="en-US" sz="1600" dirty="0">
                <a:solidFill>
                  <a:srgbClr val="0070C0"/>
                </a:solidFill>
              </a:rPr>
              <a:t>数字化转型起步较晚</a:t>
            </a:r>
            <a:r>
              <a:rPr kumimoji="1" lang="en-US" altLang="zh-CN" sz="1600" dirty="0"/>
              <a:t>: </a:t>
            </a:r>
            <a:r>
              <a:rPr kumimoji="1" lang="zh-CN" altLang="en-US" sz="1600" dirty="0"/>
              <a:t>相对于一些已深度数字化本土竞争对手</a:t>
            </a:r>
            <a:r>
              <a:rPr kumimoji="1" lang="en-US" altLang="zh-CN" sz="1600" dirty="0"/>
              <a:t>, CoffeeCo</a:t>
            </a:r>
            <a:r>
              <a:rPr kumimoji="1" lang="zh-CN" altLang="en-US" sz="1600" dirty="0"/>
              <a:t>在数字化应用上可能显得滞后</a:t>
            </a:r>
            <a:r>
              <a:rPr kumimoji="1" lang="en-US" altLang="zh-CN" sz="1600" dirty="0"/>
              <a:t>, </a:t>
            </a:r>
            <a:r>
              <a:rPr kumimoji="1" lang="zh-CN" altLang="en-US" sz="1600" dirty="0"/>
              <a:t>需要追赶。</a:t>
            </a:r>
            <a:endParaRPr kumimoji="1" lang="en-US" altLang="zh-CN" sz="1600" dirty="0"/>
          </a:p>
          <a:p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6F5ACBB-65B8-EF53-218C-118FE3ECDDD9}"/>
              </a:ext>
            </a:extLst>
          </p:cNvPr>
          <p:cNvSpPr txBox="1"/>
          <p:nvPr/>
        </p:nvSpPr>
        <p:spPr>
          <a:xfrm>
            <a:off x="6096000" y="4374190"/>
            <a:ext cx="5956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highlight>
                  <a:srgbClr val="FFFF00"/>
                </a:highlight>
              </a:rPr>
              <a:t>T</a:t>
            </a:r>
            <a:r>
              <a:rPr kumimoji="1" lang="en-US" altLang="zh-CN" sz="1600" dirty="0"/>
              <a:t>:</a:t>
            </a:r>
            <a:r>
              <a:rPr kumimoji="1" lang="en-US" altLang="zh-CN" sz="1600" dirty="0">
                <a:highlight>
                  <a:srgbClr val="FFFF00"/>
                </a:highlight>
              </a:rPr>
              <a:t>1. </a:t>
            </a:r>
            <a:r>
              <a:rPr kumimoji="1" lang="zh-CN" altLang="en-US" sz="1600" dirty="0">
                <a:highlight>
                  <a:srgbClr val="FFFF00"/>
                </a:highlight>
              </a:rPr>
              <a:t>极其激烈的市场竞争</a:t>
            </a:r>
            <a:r>
              <a:rPr kumimoji="1" lang="zh-CN" altLang="en-US" sz="1600" dirty="0"/>
              <a:t>： 竞争对手包括本土连锁品牌</a:t>
            </a:r>
            <a:r>
              <a:rPr kumimoji="1" lang="en-US" altLang="zh-CN" sz="1600" dirty="0"/>
              <a:t> (</a:t>
            </a:r>
            <a:r>
              <a:rPr kumimoji="1" lang="zh-CN" altLang="en-US" sz="1600" dirty="0"/>
              <a:t>瑞幸、</a:t>
            </a:r>
            <a:r>
              <a:rPr kumimoji="1" lang="en-US" altLang="zh-CN" sz="1600" dirty="0"/>
              <a:t>Manner</a:t>
            </a:r>
            <a:r>
              <a:rPr kumimoji="1" lang="zh-CN" altLang="en-US" sz="1600" dirty="0"/>
              <a:t>等）、其他国际巨头</a:t>
            </a:r>
            <a:r>
              <a:rPr kumimoji="1" lang="en-US" altLang="zh-CN" sz="1600" dirty="0"/>
              <a:t> (</a:t>
            </a:r>
            <a:r>
              <a:rPr kumimoji="1" lang="zh-CN" altLang="en-US" sz="1600" dirty="0"/>
              <a:t>星巴克等</a:t>
            </a:r>
            <a:r>
              <a:rPr kumimoji="1" lang="en-US" altLang="zh-CN" sz="1600" dirty="0"/>
              <a:t>) </a:t>
            </a:r>
            <a:r>
              <a:rPr kumimoji="1" lang="zh-CN" altLang="en-US" sz="1600" dirty="0"/>
              <a:t>以及无数独立精品咖啡馆，价格战和营销战激烈。</a:t>
            </a:r>
          </a:p>
          <a:p>
            <a:r>
              <a:rPr kumimoji="1" lang="en-US" altLang="zh-CN" sz="1600" dirty="0"/>
              <a:t>   </a:t>
            </a:r>
            <a:r>
              <a:rPr kumimoji="1" lang="en-US" altLang="zh-CN" sz="1600" dirty="0">
                <a:highlight>
                  <a:srgbClr val="FFFF00"/>
                </a:highlight>
              </a:rPr>
              <a:t>2. </a:t>
            </a:r>
            <a:r>
              <a:rPr kumimoji="1" lang="zh-CN" altLang="en-US" sz="1600" dirty="0">
                <a:highlight>
                  <a:srgbClr val="FFFF00"/>
                </a:highlight>
              </a:rPr>
              <a:t>市场饱和与消费者口味多变</a:t>
            </a:r>
            <a:r>
              <a:rPr kumimoji="1" lang="en-US" altLang="zh-CN" sz="1600" dirty="0"/>
              <a:t>: </a:t>
            </a:r>
            <a:r>
              <a:rPr kumimoji="1" lang="zh-CN" altLang="en-US" sz="1600" dirty="0"/>
              <a:t>一线城市咖啡门店密度过高，消费者选择众多</a:t>
            </a:r>
            <a:r>
              <a:rPr kumimoji="1" lang="en-US" altLang="zh-CN" sz="1600" dirty="0"/>
              <a:t>, </a:t>
            </a:r>
            <a:r>
              <a:rPr kumimoji="1" lang="zh-CN" altLang="en-US" sz="1600" dirty="0"/>
              <a:t>品牌忠诚度低。消费者口味变化快，对创新要求高。</a:t>
            </a:r>
          </a:p>
          <a:p>
            <a:r>
              <a:rPr kumimoji="1" lang="en-US" altLang="zh-CN" sz="1600" dirty="0"/>
              <a:t>   </a:t>
            </a:r>
            <a:r>
              <a:rPr kumimoji="1" lang="en-US" altLang="zh-CN" sz="1600" dirty="0">
                <a:highlight>
                  <a:srgbClr val="FFFF00"/>
                </a:highlight>
              </a:rPr>
              <a:t>3. </a:t>
            </a:r>
            <a:r>
              <a:rPr kumimoji="1" lang="zh-CN" altLang="en-US" sz="1600" dirty="0">
                <a:highlight>
                  <a:srgbClr val="FFFF00"/>
                </a:highlight>
              </a:rPr>
              <a:t>本土竞争对手的数字化优势</a:t>
            </a:r>
            <a:r>
              <a:rPr kumimoji="1" lang="en-US" altLang="zh-CN" sz="1600" dirty="0"/>
              <a:t>: </a:t>
            </a:r>
            <a:r>
              <a:rPr kumimoji="1" lang="zh-CN" altLang="en-US" sz="1600" dirty="0"/>
              <a:t>许多本土竞争对手从诞生之初就是数据驱动的</a:t>
            </a:r>
            <a:r>
              <a:rPr kumimoji="1" lang="en-US" altLang="zh-CN" sz="1600" dirty="0"/>
              <a:t>, </a:t>
            </a:r>
            <a:r>
              <a:rPr kumimoji="1" lang="zh-CN" altLang="en-US" sz="1600" dirty="0"/>
              <a:t>其在数字化运营、社交媒体营销和快速迭代方面具有先天优势。</a:t>
            </a:r>
            <a:endParaRPr kumimoji="1"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689261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86992-D6AC-5E56-7EA4-9A0EA6259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251C0E6-8463-F8E7-CD44-7AF2C49A57D4}"/>
              </a:ext>
            </a:extLst>
          </p:cNvPr>
          <p:cNvCxnSpPr>
            <a:cxnSpLocks/>
          </p:cNvCxnSpPr>
          <p:nvPr/>
        </p:nvCxnSpPr>
        <p:spPr>
          <a:xfrm>
            <a:off x="640080" y="813816"/>
            <a:ext cx="11091672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C6F95CB1-2667-2CCA-45DE-A9238C3B9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0823" y="103726"/>
            <a:ext cx="1281777" cy="49617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124CD98-1F0E-9163-D8FB-2BB319D66902}"/>
              </a:ext>
            </a:extLst>
          </p:cNvPr>
          <p:cNvSpPr/>
          <p:nvPr/>
        </p:nvSpPr>
        <p:spPr>
          <a:xfrm>
            <a:off x="640079" y="192024"/>
            <a:ext cx="5289665" cy="496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tx1"/>
                </a:solidFill>
              </a:rPr>
              <a:t>情景引入：</a:t>
            </a:r>
            <a:r>
              <a:rPr lang="en-US" altLang="zh-CN" sz="2800" b="1" dirty="0">
                <a:solidFill>
                  <a:schemeClr val="tx1"/>
                </a:solidFill>
              </a:rPr>
              <a:t>SWOT</a:t>
            </a:r>
            <a:r>
              <a:rPr lang="zh-CN" altLang="en-US" sz="2800" b="1" dirty="0">
                <a:solidFill>
                  <a:schemeClr val="tx1"/>
                </a:solidFill>
              </a:rPr>
              <a:t>矩阵分析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8C9CDC6-428E-9EEB-8A48-82ECE6DAB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545545"/>
              </p:ext>
            </p:extLst>
          </p:nvPr>
        </p:nvGraphicFramePr>
        <p:xfrm>
          <a:off x="200693" y="1027736"/>
          <a:ext cx="4965074" cy="2817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56">
                  <a:extLst>
                    <a:ext uri="{9D8B030D-6E8A-4147-A177-3AD203B41FA5}">
                      <a16:colId xmlns:a16="http://schemas.microsoft.com/office/drawing/2014/main" val="3002128281"/>
                    </a:ext>
                  </a:extLst>
                </a:gridCol>
                <a:gridCol w="2101933">
                  <a:extLst>
                    <a:ext uri="{9D8B030D-6E8A-4147-A177-3AD203B41FA5}">
                      <a16:colId xmlns:a16="http://schemas.microsoft.com/office/drawing/2014/main" val="2300793315"/>
                    </a:ext>
                  </a:extLst>
                </a:gridCol>
                <a:gridCol w="2173185">
                  <a:extLst>
                    <a:ext uri="{9D8B030D-6E8A-4147-A177-3AD203B41FA5}">
                      <a16:colId xmlns:a16="http://schemas.microsoft.com/office/drawing/2014/main" val="3248456673"/>
                    </a:ext>
                  </a:extLst>
                </a:gridCol>
              </a:tblGrid>
              <a:tr h="515048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内部因素外部因素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优势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劣势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697110"/>
                  </a:ext>
                </a:extLst>
              </a:tr>
              <a:tr h="875189">
                <a:tc>
                  <a:txBody>
                    <a:bodyPr/>
                    <a:lstStyle/>
                    <a:p>
                      <a:r>
                        <a:rPr lang="zh-CN" altLang="en-US" sz="1600" b="1" dirty="0"/>
                        <a:t>机会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SO</a:t>
                      </a:r>
                      <a:r>
                        <a:rPr lang="zh-CN" altLang="en-US" sz="1600" dirty="0"/>
                        <a:t>战略（增长型战略）</a:t>
                      </a:r>
                      <a:endParaRPr lang="en-US" altLang="zh-CN" sz="1600" dirty="0"/>
                    </a:p>
                    <a:p>
                      <a:r>
                        <a:rPr lang="zh-CN" altLang="en-US" sz="1600" dirty="0"/>
                        <a:t>利用优势，抓住机会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WO</a:t>
                      </a:r>
                      <a:r>
                        <a:rPr lang="zh-CN" altLang="en-US" sz="1600" dirty="0"/>
                        <a:t>战略（扭转型战略）</a:t>
                      </a:r>
                      <a:endParaRPr lang="en-US" altLang="zh-CN" sz="1600" dirty="0"/>
                    </a:p>
                    <a:p>
                      <a:r>
                        <a:rPr lang="zh-CN" altLang="en-US" sz="1600" dirty="0"/>
                        <a:t>利用机会，克服劣势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091516"/>
                  </a:ext>
                </a:extLst>
              </a:tr>
              <a:tr h="875189">
                <a:tc>
                  <a:txBody>
                    <a:bodyPr/>
                    <a:lstStyle/>
                    <a:p>
                      <a:r>
                        <a:rPr lang="zh-CN" altLang="en-US" sz="1600" b="1" dirty="0"/>
                        <a:t>威胁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ST</a:t>
                      </a:r>
                      <a:r>
                        <a:rPr lang="zh-CN" altLang="en-US" sz="1600" dirty="0"/>
                        <a:t>战略（多元化战略）</a:t>
                      </a:r>
                      <a:endParaRPr lang="en-US" altLang="zh-CN" sz="1600" dirty="0"/>
                    </a:p>
                    <a:p>
                      <a:r>
                        <a:rPr lang="zh-CN" altLang="en-US" sz="1600" dirty="0"/>
                        <a:t>利用优势，规避威胁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WT</a:t>
                      </a:r>
                      <a:r>
                        <a:rPr lang="zh-CN" altLang="en-US" sz="1600" dirty="0"/>
                        <a:t>战略（防御型战略）</a:t>
                      </a:r>
                      <a:endParaRPr lang="en-US" altLang="zh-CN" sz="1600" dirty="0"/>
                    </a:p>
                    <a:p>
                      <a:r>
                        <a:rPr lang="zh-CN" altLang="en-US" sz="1600" dirty="0"/>
                        <a:t>最小化劣势，规避威胁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285646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C4AF6691-1D4E-9DC5-9A21-B3F5FB28A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527" y="-1"/>
            <a:ext cx="5201393" cy="6947065"/>
          </a:xfrm>
          <a:prstGeom prst="rect">
            <a:avLst/>
          </a:prstGeom>
        </p:spPr>
      </p:pic>
      <p:sp>
        <p:nvSpPr>
          <p:cNvPr id="10" name="右箭头 9">
            <a:extLst>
              <a:ext uri="{FF2B5EF4-FFF2-40B4-BE49-F238E27FC236}">
                <a16:creationId xmlns:a16="http://schemas.microsoft.com/office/drawing/2014/main" id="{2C89F3F5-A772-C170-46B1-3BF7582DD3B6}"/>
              </a:ext>
            </a:extLst>
          </p:cNvPr>
          <p:cNvSpPr/>
          <p:nvPr/>
        </p:nvSpPr>
        <p:spPr>
          <a:xfrm>
            <a:off x="5301511" y="2766949"/>
            <a:ext cx="913272" cy="567043"/>
          </a:xfrm>
          <a:prstGeom prst="right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15681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811</TotalTime>
  <Words>779</Words>
  <Application>Microsoft Macintosh PowerPoint</Application>
  <PresentationFormat>宽屏</PresentationFormat>
  <Paragraphs>59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DengXian</vt:lpstr>
      <vt:lpstr>DengXian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语 李</dc:creator>
  <cp:lastModifiedBy>Yutong WANG (20809509)</cp:lastModifiedBy>
  <cp:revision>6</cp:revision>
  <dcterms:created xsi:type="dcterms:W3CDTF">2024-12-13T01:17:08Z</dcterms:created>
  <dcterms:modified xsi:type="dcterms:W3CDTF">2026-08-18T02:47:02Z</dcterms:modified>
</cp:coreProperties>
</file>